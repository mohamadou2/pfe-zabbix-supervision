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2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75" r:id="rId7"/>
    <p:sldId id="262" r:id="rId8"/>
    <p:sldId id="261" r:id="rId9"/>
    <p:sldId id="264" r:id="rId10"/>
    <p:sldId id="277" r:id="rId11"/>
    <p:sldId id="263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9CED96-068A-4274-8614-CE8858D45159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9DBC96-224C-4F47-B1D0-6020CB55D1D9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Espace réservé de l'image des diapositives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Espace réservé du texte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fr-F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fr-FR" dirty="0"/>
              <a:t>Modifiez le style du titre</a:t>
            </a:r>
            <a:endParaRPr lang="fr-FR" dirty="0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dirty="0"/>
              <a:t>Modifier le style des sous-titres du masque</a:t>
            </a:r>
            <a:endParaRPr lang="fr-FR" dirty="0"/>
          </a:p>
        </p:txBody>
      </p:sp>
      <p:sp>
        <p:nvSpPr>
          <p:cNvPr id="16" name="Espace réservé date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17" name="Espace réservé pied de page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18" name="Espace réservé numéro de diapositive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fr-FR" smtClean="0"/>
            </a:fld>
            <a:endParaRPr lang="fr-FR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contenu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ate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5" name="Espace réservé pied de page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numéro de diapositive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fr-FR" dirty="0"/>
              <a:t>Modifier le titre</a:t>
            </a:r>
            <a:endParaRPr lang="fr-FR" dirty="0"/>
          </a:p>
        </p:txBody>
      </p:sp>
      <p:sp>
        <p:nvSpPr>
          <p:cNvPr id="3" name="Espace réservé texte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dirty="0"/>
              <a:t>Modifier le texte</a:t>
            </a:r>
            <a:endParaRPr lang="fr-FR" dirty="0"/>
          </a:p>
        </p:txBody>
      </p:sp>
      <p:sp>
        <p:nvSpPr>
          <p:cNvPr id="4" name="Espace réservé date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5" name="Espace réservé pied de page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numéro de diapositive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ntenu à deux 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contenu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contenu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  <a:endParaRPr lang="fr-FR" dirty="0"/>
          </a:p>
          <a:p>
            <a:pPr lvl="1"/>
            <a:r>
              <a:rPr lang="fr-FR" dirty="0"/>
              <a:t>Deuxième niveau</a:t>
            </a:r>
            <a:endParaRPr lang="fr-FR" dirty="0"/>
          </a:p>
          <a:p>
            <a:pPr lvl="2"/>
            <a:r>
              <a:rPr lang="fr-FR" dirty="0"/>
              <a:t>Troisième niveau</a:t>
            </a:r>
            <a:endParaRPr lang="fr-FR" dirty="0"/>
          </a:p>
          <a:p>
            <a:pPr lvl="3"/>
            <a:r>
              <a:rPr lang="fr-FR" dirty="0"/>
              <a:t>Quatrième niveau</a:t>
            </a:r>
            <a:endParaRPr lang="fr-FR" dirty="0"/>
          </a:p>
          <a:p>
            <a:pPr lvl="4"/>
            <a:r>
              <a:rPr lang="fr-FR" dirty="0"/>
              <a:t>Cinquième niveau</a:t>
            </a:r>
            <a:endParaRPr lang="fr-FR" dirty="0"/>
          </a:p>
        </p:txBody>
      </p:sp>
      <p:sp>
        <p:nvSpPr>
          <p:cNvPr id="5" name="Espace réservé date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6" name="Espace réservé pied de page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numéro de diapositive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texte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dirty="0"/>
              <a:t>Modifier le texte</a:t>
            </a:r>
            <a:endParaRPr lang="fr-FR" dirty="0"/>
          </a:p>
        </p:txBody>
      </p:sp>
      <p:sp>
        <p:nvSpPr>
          <p:cNvPr id="4" name="Espace réservé contenu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texte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 texte</a:t>
            </a:r>
            <a:endParaRPr lang="fr-FR"/>
          </a:p>
        </p:txBody>
      </p:sp>
      <p:sp>
        <p:nvSpPr>
          <p:cNvPr id="6" name="Espace réservé contenu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Espace réservé date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8" name="Espace réservé pied de page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numéro de diapositive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ate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4" name="Espace réservé pied de page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numéro de diapositive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ate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3" name="Espace réservé pied de page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numéro de diapositive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et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image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fr-FR"/>
          </a:p>
        </p:txBody>
      </p:sp>
      <p:sp>
        <p:nvSpPr>
          <p:cNvPr id="4" name="Espace réservé texte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fr-FR" smtClean="0"/>
              <a:t>Modifier les styles du texte du masque</a:t>
            </a:r>
            <a:endParaRPr lang="fr-FR"/>
          </a:p>
        </p:txBody>
      </p:sp>
      <p:sp>
        <p:nvSpPr>
          <p:cNvPr id="5" name="Espace réservé date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fr-FR" smtClean="0"/>
            </a:fld>
            <a:endParaRPr lang="fr-FR" dirty="0"/>
          </a:p>
        </p:txBody>
      </p:sp>
      <p:sp>
        <p:nvSpPr>
          <p:cNvPr id="6" name="Espace réservé pied de page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7" name="Espace réservé numéro de diapositive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fr-FR" smtClean="0"/>
            </a:fld>
            <a:endParaRPr lang="fr-FR"/>
          </a:p>
        </p:txBody>
      </p:sp>
      <p:sp>
        <p:nvSpPr>
          <p:cNvPr id="9" name="Titr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fr-FR"/>
              <a:t>Modifiez le style du titre</a:t>
            </a:r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et texte vertic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fr-FR" smtClean="0"/>
              <a:t>Modifier le titre</a:t>
            </a:r>
            <a:endParaRPr lang="fr-FR"/>
          </a:p>
        </p:txBody>
      </p:sp>
      <p:sp>
        <p:nvSpPr>
          <p:cNvPr id="3" name="Espace réservé texte vertical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fr-FR" dirty="0"/>
              <a:t>Modifier les styles du texte du masque</a:t>
            </a:r>
            <a:endParaRPr lang="fr-FR" dirty="0"/>
          </a:p>
          <a:p>
            <a:pPr lvl="1"/>
            <a:r>
              <a:rPr lang="fr-FR" dirty="0"/>
              <a:t>Deuxième niveau</a:t>
            </a:r>
            <a:endParaRPr lang="fr-FR" dirty="0"/>
          </a:p>
          <a:p>
            <a:pPr lvl="2"/>
            <a:r>
              <a:rPr lang="fr-FR" dirty="0"/>
              <a:t>Troisième niveau</a:t>
            </a:r>
            <a:endParaRPr lang="fr-FR" dirty="0"/>
          </a:p>
          <a:p>
            <a:pPr lvl="3"/>
            <a:r>
              <a:rPr lang="fr-FR" dirty="0"/>
              <a:t>Quatrième niveau</a:t>
            </a:r>
            <a:endParaRPr lang="fr-FR" dirty="0"/>
          </a:p>
          <a:p>
            <a:pPr lvl="4"/>
            <a:r>
              <a:rPr lang="fr-FR" dirty="0"/>
              <a:t>Cinquième niveau</a:t>
            </a:r>
            <a:endParaRPr lang="fr-FR" dirty="0"/>
          </a:p>
        </p:txBody>
      </p:sp>
      <p:sp>
        <p:nvSpPr>
          <p:cNvPr id="4" name="Espace réservé date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5" name="Espace réservé pied de page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numéro de diapositive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ate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4" name="Espace réservé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fr-FR" smtClean="0"/>
            </a:fld>
            <a:endParaRPr lang="fr-FR"/>
          </a:p>
        </p:txBody>
      </p:sp>
      <p:sp>
        <p:nvSpPr>
          <p:cNvPr id="7" name="Espace réservé contenu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fr-FR" dirty="0"/>
              <a:t>Modifier les styles du texte du masque</a:t>
            </a:r>
            <a:endParaRPr lang="fr-FR" dirty="0"/>
          </a:p>
          <a:p>
            <a:pPr lvl="1"/>
            <a:r>
              <a:rPr lang="fr-FR" dirty="0"/>
              <a:t>Deuxième niveau</a:t>
            </a:r>
            <a:endParaRPr lang="fr-FR" dirty="0"/>
          </a:p>
          <a:p>
            <a:pPr lvl="2"/>
            <a:r>
              <a:rPr lang="fr-FR" dirty="0"/>
              <a:t>Troisième niveau</a:t>
            </a:r>
            <a:endParaRPr lang="fr-FR" dirty="0"/>
          </a:p>
          <a:p>
            <a:pPr lvl="3"/>
            <a:r>
              <a:rPr lang="fr-FR" dirty="0"/>
              <a:t>Quatrième niveau</a:t>
            </a:r>
            <a:endParaRPr lang="fr-FR" dirty="0"/>
          </a:p>
          <a:p>
            <a:pPr lvl="4"/>
            <a:r>
              <a:rPr lang="fr-FR" dirty="0"/>
              <a:t>Cinquième niveau</a:t>
            </a:r>
            <a:endParaRPr lang="fr-FR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e de f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ate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4" name="Espace réservé pied de page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numéro de diapositive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fr-FR" smtClean="0"/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fr-FR" smtClean="0"/>
              <a:t>Modifier le titre</a:t>
            </a:r>
            <a:endParaRPr lang="fr-FR"/>
          </a:p>
        </p:txBody>
      </p:sp>
      <p:sp>
        <p:nvSpPr>
          <p:cNvPr id="7" name="Espace réservé texte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fr-FR" dirty="0"/>
              <a:t>Modifier les styles du texte du masque</a:t>
            </a:r>
            <a:endParaRPr lang="fr-FR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re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  <a:endParaRPr lang="fr-FR" smtClean="0"/>
          </a:p>
          <a:p>
            <a:pPr lvl="1"/>
            <a:r>
              <a:rPr lang="fr-FR" smtClean="0"/>
              <a:t>Deuxième niveau</a:t>
            </a:r>
            <a:endParaRPr lang="fr-FR" smtClean="0"/>
          </a:p>
          <a:p>
            <a:pPr lvl="2"/>
            <a:r>
              <a:rPr lang="fr-FR" smtClean="0"/>
              <a:t>Troisième niveau</a:t>
            </a:r>
            <a:endParaRPr lang="fr-FR" smtClean="0"/>
          </a:p>
          <a:p>
            <a:pPr lvl="3"/>
            <a:r>
              <a:rPr lang="fr-FR" smtClean="0"/>
              <a:t>Quatrième niveau</a:t>
            </a:r>
            <a:endParaRPr lang="fr-FR" smtClean="0"/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fr-FR" smtClean="0"/>
            </a:fld>
            <a:endParaRPr lang="fr-FR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9" Type="http://schemas.openxmlformats.org/officeDocument/2006/relationships/theme" Target="../theme/theme1.xml"/><Relationship Id="rId18" Type="http://schemas.openxmlformats.org/officeDocument/2006/relationships/tags" Target="../tags/tag62.xml"/><Relationship Id="rId17" Type="http://schemas.openxmlformats.org/officeDocument/2006/relationships/tags" Target="../tags/tag61.xml"/><Relationship Id="rId16" Type="http://schemas.openxmlformats.org/officeDocument/2006/relationships/tags" Target="../tags/tag60.xml"/><Relationship Id="rId15" Type="http://schemas.openxmlformats.org/officeDocument/2006/relationships/tags" Target="../tags/tag59.xml"/><Relationship Id="rId14" Type="http://schemas.openxmlformats.org/officeDocument/2006/relationships/tags" Target="../tags/tag58.xml"/><Relationship Id="rId13" Type="http://schemas.openxmlformats.org/officeDocument/2006/relationships/tags" Target="../tags/tag57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pour le titre 1"/>
          <p:cNvSpPr>
            <a:spLocks noGrp="1"/>
          </p:cNvSpPr>
          <p:nvPr>
            <p:ph type="title"/>
            <p:custDataLst>
              <p:tags r:id="rId13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fr-FR" dirty="0"/>
              <a:t>Modifiez le style du titre</a:t>
            </a:r>
            <a:endParaRPr lang="fr-FR" dirty="0"/>
          </a:p>
        </p:txBody>
      </p:sp>
      <p:sp>
        <p:nvSpPr>
          <p:cNvPr id="3" name="Espace réservé texte 2"/>
          <p:cNvSpPr>
            <a:spLocks noGrp="1"/>
          </p:cNvSpPr>
          <p:nvPr>
            <p:ph type="body" idx="1"/>
            <p:custDataLst>
              <p:tags r:id="rId14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fr-FR" dirty="0"/>
              <a:t>Modifier les styles du texte du masque</a:t>
            </a:r>
            <a:endParaRPr lang="fr-FR" dirty="0"/>
          </a:p>
          <a:p>
            <a:pPr lvl="1"/>
            <a:r>
              <a:rPr lang="fr-FR" dirty="0"/>
              <a:t>Deuxième niveau</a:t>
            </a:r>
            <a:endParaRPr lang="fr-FR" dirty="0"/>
          </a:p>
          <a:p>
            <a:pPr lvl="2"/>
            <a:r>
              <a:rPr lang="fr-FR" dirty="0"/>
              <a:t>Troisième niveau</a:t>
            </a:r>
            <a:endParaRPr lang="fr-FR" dirty="0"/>
          </a:p>
          <a:p>
            <a:pPr lvl="3"/>
            <a:r>
              <a:rPr lang="fr-FR" dirty="0"/>
              <a:t>Quatrième niveau</a:t>
            </a:r>
            <a:endParaRPr lang="fr-FR" dirty="0"/>
          </a:p>
          <a:p>
            <a:pPr lvl="4"/>
            <a:r>
              <a:rPr lang="fr-FR" dirty="0"/>
              <a:t>Cinquième niveau</a:t>
            </a:r>
            <a:endParaRPr lang="fr-FR" dirty="0"/>
          </a:p>
        </p:txBody>
      </p:sp>
      <p:sp>
        <p:nvSpPr>
          <p:cNvPr id="4" name="Espace réservé date 3"/>
          <p:cNvSpPr>
            <a:spLocks noGrp="1"/>
          </p:cNvSpPr>
          <p:nvPr>
            <p:ph type="dt" sz="half" idx="2"/>
            <p:custDataLst>
              <p:tags r:id="rId15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fr-FR" smtClean="0"/>
            </a:fld>
            <a:endParaRPr lang="fr-FR"/>
          </a:p>
        </p:txBody>
      </p:sp>
      <p:sp>
        <p:nvSpPr>
          <p:cNvPr id="5" name="Espace réservé pied de page 4"/>
          <p:cNvSpPr>
            <a:spLocks noGrp="1"/>
          </p:cNvSpPr>
          <p:nvPr>
            <p:ph type="ftr" sz="quarter" idx="3"/>
            <p:custDataLst>
              <p:tags r:id="rId16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 dirty="0"/>
          </a:p>
        </p:txBody>
      </p:sp>
      <p:sp>
        <p:nvSpPr>
          <p:cNvPr id="6" name="Espace réservé numéro de diapositive 5"/>
          <p:cNvSpPr>
            <a:spLocks noGrp="1"/>
          </p:cNvSpPr>
          <p:nvPr>
            <p:ph type="sldNum" sz="quarter" idx="4"/>
            <p:custDataLst>
              <p:tags r:id="rId17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fr-FR" smtClean="0"/>
            </a:fld>
            <a:endParaRPr lang="fr-FR" dirty="0"/>
          </a:p>
        </p:txBody>
      </p:sp>
    </p:spTree>
    <p:custDataLst>
      <p:tags r:id="rId18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ags" Target="../tags/tag63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5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66.xml"/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png"/><Relationship Id="rId7" Type="http://schemas.openxmlformats.org/officeDocument/2006/relationships/image" Target="../media/image13.png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67.xml"/><Relationship Id="rId13" Type="http://schemas.openxmlformats.org/officeDocument/2006/relationships/image" Target="../media/image19.png"/><Relationship Id="rId12" Type="http://schemas.openxmlformats.org/officeDocument/2006/relationships/image" Target="../media/image18.png"/><Relationship Id="rId11" Type="http://schemas.openxmlformats.org/officeDocument/2006/relationships/image" Target="../media/image17.png"/><Relationship Id="rId10" Type="http://schemas.openxmlformats.org/officeDocument/2006/relationships/image" Target="../media/image16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73.xml"/><Relationship Id="rId1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jpeg"/><Relationship Id="rId8" Type="http://schemas.openxmlformats.org/officeDocument/2006/relationships/image" Target="../media/image28.jpeg"/><Relationship Id="rId7" Type="http://schemas.openxmlformats.org/officeDocument/2006/relationships/image" Target="../media/image27.jpeg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75.xml"/><Relationship Id="rId10" Type="http://schemas.openxmlformats.org/officeDocument/2006/relationships/image" Target="../media/image30.png"/><Relationship Id="rId1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>
          <a:xfrm>
            <a:off x="1272540" y="2907030"/>
            <a:ext cx="9646920" cy="1282065"/>
          </a:xfrm>
          <a:prstGeom prst="roundRect">
            <a:avLst>
              <a:gd name="adj" fmla="val 1226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US" alt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Mise en place d’un syst</a:t>
            </a:r>
            <a:r>
              <a:rPr lang="fr-FR" alt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è</a:t>
            </a:r>
            <a:r>
              <a:rPr lang="en-US" alt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 de supervision r</a:t>
            </a:r>
            <a:r>
              <a:rPr 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é</a:t>
            </a:r>
            <a:r>
              <a:rPr lang="en-US" altLang="fr-FR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seau au sein de Mauripost</a:t>
            </a:r>
            <a:endParaRPr lang="en-US" altLang="fr-FR" sz="36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ZoneTexte 6"/>
          <p:cNvSpPr txBox="1"/>
          <p:nvPr/>
        </p:nvSpPr>
        <p:spPr>
          <a:xfrm>
            <a:off x="2066925" y="1786387"/>
            <a:ext cx="8067676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Mémoire de fin d’études En vue de l’obtention de la Licence en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fr-FR" b="1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  <a:p>
            <a:pPr algn="ctr"/>
            <a:r>
              <a:rPr lang="en-US" alt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D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é</a:t>
            </a:r>
            <a:r>
              <a:rPr lang="en-US" alt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veloppement, Administration Internet et Intranet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 (</a:t>
            </a:r>
            <a:r>
              <a:rPr lang="en-US" alt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DAII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)</a:t>
            </a:r>
            <a:endParaRPr lang="fr-FR" b="1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  <a:p>
            <a:pPr algn="ctr"/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sous le thème :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8" name="ZoneTexte 7"/>
          <p:cNvSpPr txBox="1"/>
          <p:nvPr/>
        </p:nvSpPr>
        <p:spPr>
          <a:xfrm>
            <a:off x="3980948" y="6262021"/>
            <a:ext cx="3818373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Année académique : 202</a:t>
            </a:r>
            <a:r>
              <a:rPr lang="en-US" alt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5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/202</a:t>
            </a:r>
            <a:r>
              <a:rPr lang="en-US" alt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6</a:t>
            </a:r>
            <a:endParaRPr lang="en-US" altLang="fr-FR" b="1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A047-6DF3-4C8C-9C12-C17027B947F2}" type="slidenum">
              <a:rPr lang="en-US" smtClean="0"/>
            </a:fld>
            <a:endParaRPr lang="en-US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641" y="233972"/>
            <a:ext cx="7090717" cy="1448641"/>
          </a:xfrm>
          <a:prstGeom prst="rect">
            <a:avLst/>
          </a:prstGeom>
        </p:spPr>
      </p:pic>
      <p:sp>
        <p:nvSpPr>
          <p:cNvPr id="13" name="Sous-titre 2"/>
          <p:cNvSpPr txBox="1"/>
          <p:nvPr/>
        </p:nvSpPr>
        <p:spPr>
          <a:xfrm>
            <a:off x="7185025" y="4658360"/>
            <a:ext cx="4620895" cy="1497965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18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Sous la supervision de :</a:t>
            </a:r>
            <a:r>
              <a:rPr lang="fr-F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fr-FR" sz="2000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  <a:p>
            <a:pPr algn="l">
              <a:lnSpc>
                <a:spcPct val="150000"/>
              </a:lnSpc>
            </a:pPr>
            <a:r>
              <a:rPr lang="fr-FR" sz="2000" b="1" dirty="0" smtClean="0">
                <a:solidFill>
                  <a:srgbClr val="275C8D"/>
                </a:solidFill>
                <a:latin typeface="Century Gothic" panose="020B0502020202020204" pitchFamily="34" charset="0"/>
              </a:rPr>
              <a:t> </a:t>
            </a:r>
            <a:r>
              <a:rPr lang="en-US" altLang="fr-FR" sz="1600" b="1" dirty="0">
                <a:solidFill>
                  <a:srgbClr val="002060"/>
                </a:solidFill>
              </a:rPr>
              <a:t>Pr. Ahmed Mohamed Lemine Mamoune (FST)</a:t>
            </a:r>
            <a:endParaRPr lang="en-US" altLang="fr-FR" sz="1600" b="1" dirty="0">
              <a:solidFill>
                <a:srgbClr val="002060"/>
              </a:solidFill>
            </a:endParaRPr>
          </a:p>
          <a:p>
            <a:pPr algn="l"/>
            <a:r>
              <a:rPr lang="en-US" altLang="fr-FR" sz="1600" b="1" dirty="0">
                <a:solidFill>
                  <a:srgbClr val="002060"/>
                </a:solidFill>
              </a:rPr>
              <a:t>Mr. Beyni ould Maouloud (Mauripost)</a:t>
            </a:r>
            <a:endParaRPr lang="fr-FR" sz="2000" b="1" dirty="0">
              <a:solidFill>
                <a:srgbClr val="275C8D"/>
              </a:solidFill>
              <a:latin typeface="Century Gothic" panose="020B0502020202020204" pitchFamily="34" charset="0"/>
            </a:endParaRPr>
          </a:p>
          <a:p>
            <a:pPr algn="l"/>
            <a:endParaRPr lang="en-US" sz="2000" b="1" dirty="0">
              <a:solidFill>
                <a:srgbClr val="275C8D"/>
              </a:solidFill>
              <a:latin typeface="Century Gothic" panose="020B0502020202020204" pitchFamily="34" charset="0"/>
            </a:endParaRPr>
          </a:p>
          <a:p>
            <a:endParaRPr lang="en-US" sz="2000" b="1" dirty="0">
              <a:solidFill>
                <a:srgbClr val="275C8D"/>
              </a:solidFill>
              <a:latin typeface="Century Gothic" panose="020B0502020202020204" pitchFamily="34" charset="0"/>
            </a:endParaRPr>
          </a:p>
        </p:txBody>
      </p:sp>
      <p:pic>
        <p:nvPicPr>
          <p:cNvPr id="12" name="Image 11" descr="mauripost-logo 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940" y="4472940"/>
            <a:ext cx="1680845" cy="944245"/>
          </a:xfrm>
          <a:prstGeom prst="rect">
            <a:avLst/>
          </a:prstGeom>
        </p:spPr>
      </p:pic>
      <p:sp>
        <p:nvSpPr>
          <p:cNvPr id="3" name="Sous-titre 2"/>
          <p:cNvSpPr>
            <a:spLocks noGrp="1"/>
          </p:cNvSpPr>
          <p:nvPr/>
        </p:nvSpPr>
        <p:spPr>
          <a:xfrm>
            <a:off x="458470" y="4658360"/>
            <a:ext cx="3873500" cy="1019175"/>
          </a:xfrm>
          <a:prstGeom prst="rect">
            <a:avLst/>
          </a:prstGeom>
          <a:ln>
            <a:noFill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vert="horz" lIns="91440" tIns="45720" rIns="91440" bIns="45720" rtlCol="0">
            <a:normAutofit fontScale="525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r-FR" sz="29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Réalisé par :</a:t>
            </a:r>
            <a:r>
              <a:rPr lang="fr-F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 </a:t>
            </a:r>
            <a:endParaRPr lang="fr-FR" sz="2000" dirty="0">
              <a:solidFill>
                <a:schemeClr val="tx1">
                  <a:lumMod val="65000"/>
                  <a:lumOff val="35000"/>
                </a:schemeClr>
              </a:solidFill>
              <a:latin typeface="Century Gothic" panose="020B0502020202020204" pitchFamily="34" charset="0"/>
            </a:endParaRPr>
          </a:p>
          <a:p>
            <a:r>
              <a:rPr lang="en-US" altLang="fr-FR" sz="3000" b="1" dirty="0">
                <a:solidFill>
                  <a:srgbClr val="275C8D"/>
                </a:solidFill>
                <a:latin typeface="Century Gothic" panose="020B0502020202020204" pitchFamily="34" charset="0"/>
              </a:rPr>
              <a:t>Nom</a:t>
            </a:r>
            <a:r>
              <a:rPr lang="fr-FR" sz="3000" b="1" dirty="0">
                <a:solidFill>
                  <a:srgbClr val="275C8D"/>
                </a:solidFill>
                <a:latin typeface="Century Gothic" panose="020B0502020202020204" pitchFamily="34" charset="0"/>
              </a:rPr>
              <a:t> </a:t>
            </a:r>
            <a:r>
              <a:rPr lang="en-US" altLang="fr-FR" sz="3000" b="1" dirty="0">
                <a:solidFill>
                  <a:srgbClr val="275C8D"/>
                </a:solidFill>
                <a:latin typeface="Century Gothic" panose="020B0502020202020204" pitchFamily="34" charset="0"/>
              </a:rPr>
              <a:t>:</a:t>
            </a:r>
            <a:r>
              <a:rPr lang="fr-FR" sz="3000" b="1" dirty="0">
                <a:solidFill>
                  <a:srgbClr val="275C8D"/>
                </a:solidFill>
                <a:latin typeface="Century Gothic" panose="020B0502020202020204" pitchFamily="34" charset="0"/>
              </a:rPr>
              <a:t> </a:t>
            </a:r>
            <a:r>
              <a:rPr lang="en-US" altLang="fr-FR" sz="3000" b="1" dirty="0">
                <a:solidFill>
                  <a:srgbClr val="275C8D"/>
                </a:solidFill>
                <a:latin typeface="Century Gothic" panose="020B0502020202020204" pitchFamily="34" charset="0"/>
              </a:rPr>
              <a:t>Mamadou Abou Ba</a:t>
            </a:r>
            <a:r>
              <a:rPr lang="fr-FR" sz="3000" b="1" dirty="0">
                <a:solidFill>
                  <a:srgbClr val="275C8D"/>
                </a:solidFill>
                <a:latin typeface="Century Gothic" panose="020B0502020202020204" pitchFamily="34" charset="0"/>
              </a:rPr>
              <a:t>	</a:t>
            </a:r>
            <a:endParaRPr lang="fr-FR" sz="3000" b="1" dirty="0">
              <a:solidFill>
                <a:srgbClr val="275C8D"/>
              </a:solidFill>
              <a:latin typeface="Century Gothic" panose="020B0502020202020204" pitchFamily="34" charset="0"/>
            </a:endParaRPr>
          </a:p>
          <a:p>
            <a:r>
              <a:rPr lang="en-US" altLang="fr-FR" sz="3000" b="1" dirty="0">
                <a:solidFill>
                  <a:srgbClr val="275C8D"/>
                </a:solidFill>
                <a:latin typeface="Century Gothic" panose="020B0502020202020204" pitchFamily="34" charset="0"/>
              </a:rPr>
              <a:t>ID : </a:t>
            </a:r>
            <a:r>
              <a:rPr lang="fr-FR" sz="3000" b="1" dirty="0">
                <a:solidFill>
                  <a:srgbClr val="275C8D"/>
                </a:solidFill>
                <a:latin typeface="Century Gothic" panose="020B0502020202020204" pitchFamily="34" charset="0"/>
              </a:rPr>
              <a:t>  </a:t>
            </a:r>
            <a:r>
              <a:rPr lang="en-US" altLang="fr-FR" sz="3000" b="1" dirty="0">
                <a:solidFill>
                  <a:srgbClr val="275C8D"/>
                </a:solidFill>
                <a:latin typeface="Century Gothic" panose="020B0502020202020204" pitchFamily="34" charset="0"/>
              </a:rPr>
              <a:t>C23316</a:t>
            </a:r>
            <a:r>
              <a:rPr lang="fr-FR" sz="2000" b="1" dirty="0">
                <a:solidFill>
                  <a:srgbClr val="275C8D"/>
                </a:solidFill>
                <a:latin typeface="Century Gothic" panose="020B0502020202020204" pitchFamily="34" charset="0"/>
              </a:rPr>
              <a:t>	</a:t>
            </a:r>
            <a:endParaRPr lang="en-US" sz="2000" b="1" dirty="0">
              <a:solidFill>
                <a:srgbClr val="275C8D"/>
              </a:solidFill>
              <a:latin typeface="Century Gothic" panose="020B0502020202020204" pitchFamily="34" charset="0"/>
            </a:endParaRPr>
          </a:p>
          <a:p>
            <a:endParaRPr lang="en-US" sz="2000" b="1" dirty="0">
              <a:solidFill>
                <a:srgbClr val="275C8D"/>
              </a:solidFill>
              <a:latin typeface="Century Gothic" panose="020B0502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3025775" y="1058545"/>
            <a:ext cx="6394450" cy="54356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Plan</a:t>
            </a:r>
            <a:r>
              <a:rPr lang="en-US" altLang="fr-FR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de pr</a:t>
            </a:r>
            <a:r>
              <a:rPr lang="fr-FR" altLang="fr-FR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é</a:t>
            </a:r>
            <a:r>
              <a:rPr lang="en-US" altLang="fr-FR" b="1" dirty="0">
                <a:solidFill>
                  <a:schemeClr val="tx1">
                    <a:lumMod val="65000"/>
                    <a:lumOff val="3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sentation</a:t>
            </a:r>
            <a:r>
              <a:rPr 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rPr>
              <a:t> </a:t>
            </a:r>
            <a:r>
              <a:rPr lang="fr-FR" dirty="0">
                <a:solidFill>
                  <a:schemeClr val="tx1">
                    <a:lumMod val="65000"/>
                    <a:lumOff val="35000"/>
                  </a:schemeClr>
                </a:solidFill>
              </a:rPr>
              <a:t>	</a:t>
            </a:r>
            <a:endParaRPr lang="en-US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3" name="Grouper 2"/>
          <p:cNvGrpSpPr/>
          <p:nvPr/>
        </p:nvGrpSpPr>
        <p:grpSpPr>
          <a:xfrm>
            <a:off x="314325" y="2506345"/>
            <a:ext cx="11562080" cy="1993900"/>
            <a:chOff x="495" y="3947"/>
            <a:chExt cx="18208" cy="3140"/>
          </a:xfrm>
        </p:grpSpPr>
        <p:sp>
          <p:nvSpPr>
            <p:cNvPr id="18" name="Rectangle : coins arrondis 17"/>
            <p:cNvSpPr/>
            <p:nvPr/>
          </p:nvSpPr>
          <p:spPr>
            <a:xfrm>
              <a:off x="12867" y="6097"/>
              <a:ext cx="5837" cy="9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</a:rPr>
                <a:t>        </a:t>
              </a:r>
              <a:r>
                <a:rPr lang="fr-FR" b="1" dirty="0">
                  <a:solidFill>
                    <a:srgbClr val="275C8D"/>
                  </a:solidFill>
                  <a:latin typeface="Century Gothic" panose="020B0502020202020204" pitchFamily="34" charset="0"/>
                </a:rPr>
                <a:t>Conclusion &amp; perspective</a:t>
              </a:r>
              <a:endParaRPr lang="en-US" b="1" dirty="0">
                <a:solidFill>
                  <a:srgbClr val="275C8D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19" name="Rectangle : coins arrondis 18"/>
            <p:cNvSpPr/>
            <p:nvPr/>
          </p:nvSpPr>
          <p:spPr>
            <a:xfrm>
              <a:off x="12975" y="6151"/>
              <a:ext cx="1006" cy="88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500" b="1" dirty="0">
                  <a:latin typeface="Century Gothic" panose="020B0502020202020204" pitchFamily="34" charset="0"/>
                </a:rPr>
                <a:t>6</a:t>
              </a:r>
              <a:endParaRPr lang="en-US" sz="25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0" name="Rectangle : coins arrondis 19"/>
            <p:cNvSpPr/>
            <p:nvPr/>
          </p:nvSpPr>
          <p:spPr>
            <a:xfrm>
              <a:off x="6681" y="6097"/>
              <a:ext cx="5837" cy="9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</a:rPr>
                <a:t>      Réalisation</a:t>
              </a:r>
              <a:endParaRPr lang="en-US" sz="2000" b="1" dirty="0">
                <a:solidFill>
                  <a:srgbClr val="275C8D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1" name="Rectangle : coins arrondis 20"/>
            <p:cNvSpPr/>
            <p:nvPr/>
          </p:nvSpPr>
          <p:spPr>
            <a:xfrm>
              <a:off x="6790" y="6151"/>
              <a:ext cx="1006" cy="88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500" b="1" dirty="0">
                  <a:latin typeface="Century Gothic" panose="020B0502020202020204" pitchFamily="34" charset="0"/>
                </a:rPr>
                <a:t>5</a:t>
              </a:r>
              <a:endParaRPr lang="en-US" sz="25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2" name="Rectangle : coins arrondis 21"/>
            <p:cNvSpPr/>
            <p:nvPr/>
          </p:nvSpPr>
          <p:spPr>
            <a:xfrm>
              <a:off x="495" y="6097"/>
              <a:ext cx="5837" cy="9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</a:rPr>
                <a:t>           Outils &amp; technologies</a:t>
              </a:r>
              <a:endParaRPr lang="en-US" sz="2000" b="1" dirty="0">
                <a:solidFill>
                  <a:srgbClr val="275C8D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3" name="Rectangle : coins arrondis 22"/>
            <p:cNvSpPr/>
            <p:nvPr/>
          </p:nvSpPr>
          <p:spPr>
            <a:xfrm>
              <a:off x="604" y="6151"/>
              <a:ext cx="1006" cy="88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500" b="1" dirty="0">
                  <a:latin typeface="Century Gothic" panose="020B0502020202020204" pitchFamily="34" charset="0"/>
                </a:rPr>
                <a:t>4</a:t>
              </a:r>
              <a:endParaRPr lang="en-US" sz="25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4" name="Rectangle : coins arrondis 23"/>
            <p:cNvSpPr/>
            <p:nvPr/>
          </p:nvSpPr>
          <p:spPr>
            <a:xfrm>
              <a:off x="12867" y="4078"/>
              <a:ext cx="5837" cy="9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rgbClr val="275C8D"/>
                  </a:solidFill>
                </a:rPr>
                <a:t>         </a:t>
              </a:r>
              <a:r>
                <a:rPr lang="en-US" sz="2000" b="1" dirty="0">
                  <a:solidFill>
                    <a:srgbClr val="275C8D"/>
                  </a:solidFill>
                </a:rPr>
                <a:t>Architecture </a:t>
              </a:r>
              <a:r>
                <a:rPr lang="en-US" altLang="fr-FR" sz="2000" b="1" dirty="0">
                  <a:solidFill>
                    <a:srgbClr val="275C8D"/>
                  </a:solidFill>
                  <a:sym typeface="+mn-ea"/>
                </a:rPr>
                <a:t> </a:t>
              </a:r>
              <a:r>
                <a:rPr 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  <a:sym typeface="+mn-ea"/>
                </a:rPr>
                <a:t>&amp;</a:t>
              </a:r>
              <a:r>
                <a:rPr lang="en-US" alt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  <a:sym typeface="+mn-ea"/>
                </a:rPr>
                <a:t> conception</a:t>
              </a:r>
              <a:r>
                <a:rPr lang="en-US" sz="2000" b="1" dirty="0">
                  <a:solidFill>
                    <a:srgbClr val="275C8D"/>
                  </a:solidFill>
                </a:rPr>
                <a:t> </a:t>
              </a:r>
              <a:endParaRPr lang="en-US" sz="2000" b="1" dirty="0">
                <a:solidFill>
                  <a:srgbClr val="275C8D"/>
                </a:solidFill>
              </a:endParaRPr>
            </a:p>
          </p:txBody>
        </p:sp>
        <p:sp>
          <p:nvSpPr>
            <p:cNvPr id="25" name="Rectangle : coins arrondis 24"/>
            <p:cNvSpPr/>
            <p:nvPr/>
          </p:nvSpPr>
          <p:spPr>
            <a:xfrm>
              <a:off x="12975" y="4132"/>
              <a:ext cx="1006" cy="88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500" b="1" dirty="0">
                  <a:latin typeface="Century Gothic" panose="020B0502020202020204" pitchFamily="34" charset="0"/>
                </a:rPr>
                <a:t>3</a:t>
              </a:r>
              <a:endParaRPr lang="en-US" sz="25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6" name="Rectangle : coins arrondis 25"/>
            <p:cNvSpPr/>
            <p:nvPr/>
          </p:nvSpPr>
          <p:spPr>
            <a:xfrm>
              <a:off x="6681" y="4078"/>
              <a:ext cx="5837" cy="991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</a:rPr>
                <a:t>  </a:t>
              </a:r>
              <a:r>
                <a:rPr lang="en-US" alt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</a:rPr>
                <a:t>    </a:t>
              </a:r>
              <a:r>
                <a:rPr lang="en-US" altLang="en-US" sz="2000" b="1" dirty="0">
                  <a:solidFill>
                    <a:srgbClr val="275C8D"/>
                  </a:solidFill>
                  <a:sym typeface="+mn-ea"/>
                </a:rPr>
                <a:t>É</a:t>
              </a:r>
              <a:r>
                <a:rPr lang="en-US" altLang="fr-FR" sz="2000" b="1" dirty="0">
                  <a:solidFill>
                    <a:srgbClr val="275C8D"/>
                  </a:solidFill>
                  <a:sym typeface="+mn-ea"/>
                </a:rPr>
                <a:t>tat de l’art </a:t>
              </a:r>
              <a:r>
                <a:rPr 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  <a:sym typeface="+mn-ea"/>
                </a:rPr>
                <a:t>&amp;</a:t>
              </a:r>
              <a:r>
                <a:rPr lang="en-US" altLang="fr-FR" sz="2000" b="1" dirty="0">
                  <a:solidFill>
                    <a:srgbClr val="275C8D"/>
                  </a:solidFill>
                  <a:sym typeface="+mn-ea"/>
                </a:rPr>
                <a:t> choix</a:t>
              </a:r>
              <a:endParaRPr lang="en-US" altLang="fr-FR" sz="2000" b="1" dirty="0">
                <a:solidFill>
                  <a:srgbClr val="275C8D"/>
                </a:solidFill>
                <a:sym typeface="+mn-ea"/>
              </a:endParaRPr>
            </a:p>
            <a:p>
              <a:pPr algn="ctr"/>
              <a:r>
                <a:rPr lang="en-US" altLang="fr-FR" sz="2000" b="1" dirty="0">
                  <a:solidFill>
                    <a:srgbClr val="275C8D"/>
                  </a:solidFill>
                  <a:sym typeface="+mn-ea"/>
                </a:rPr>
                <a:t>de la solution</a:t>
              </a:r>
              <a:r>
                <a:rPr 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</a:rPr>
                <a:t>         </a:t>
              </a:r>
              <a:endParaRPr lang="en-US" altLang="fr-FR" sz="2000" b="1" dirty="0">
                <a:solidFill>
                  <a:srgbClr val="275C8D"/>
                </a:solidFill>
                <a:latin typeface="Century Gothic" panose="020B0502020202020204" pitchFamily="34" charset="0"/>
              </a:endParaRPr>
            </a:p>
          </p:txBody>
        </p:sp>
        <p:sp>
          <p:nvSpPr>
            <p:cNvPr id="27" name="Rectangle : coins arrondis 26"/>
            <p:cNvSpPr/>
            <p:nvPr/>
          </p:nvSpPr>
          <p:spPr>
            <a:xfrm>
              <a:off x="6790" y="4132"/>
              <a:ext cx="1006" cy="88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500" b="1" dirty="0">
                  <a:latin typeface="Century Gothic" panose="020B0502020202020204" pitchFamily="34" charset="0"/>
                </a:rPr>
                <a:t>2</a:t>
              </a:r>
              <a:endParaRPr lang="en-US" sz="2500" b="1" dirty="0">
                <a:latin typeface="Century Gothic" panose="020B0502020202020204" pitchFamily="34" charset="0"/>
              </a:endParaRPr>
            </a:p>
          </p:txBody>
        </p:sp>
        <p:sp>
          <p:nvSpPr>
            <p:cNvPr id="28" name="Rectangle : coins arrondis 27"/>
            <p:cNvSpPr/>
            <p:nvPr/>
          </p:nvSpPr>
          <p:spPr>
            <a:xfrm>
              <a:off x="495" y="3947"/>
              <a:ext cx="5837" cy="112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000" b="1" dirty="0">
                  <a:solidFill>
                    <a:srgbClr val="275C8D"/>
                  </a:solidFill>
                </a:rPr>
                <a:t> </a:t>
              </a:r>
              <a:r>
                <a:rPr lang="en-US" altLang="fr-FR" sz="2000" b="1" dirty="0">
                  <a:solidFill>
                    <a:srgbClr val="275C8D"/>
                  </a:solidFill>
                </a:rPr>
                <a:t>  </a:t>
              </a:r>
              <a:r>
                <a:rPr lang="en-US" alt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</a:rPr>
                <a:t>Contexte </a:t>
              </a:r>
              <a:r>
                <a:rPr 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  <a:sym typeface="+mn-ea"/>
                </a:rPr>
                <a:t>&amp;</a:t>
              </a:r>
              <a:r>
                <a:rPr lang="en-US" alt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  <a:sym typeface="+mn-ea"/>
                </a:rPr>
                <a:t>          probl</a:t>
              </a:r>
              <a:r>
                <a:rPr lang="en-US" altLang="en-US" sz="2000" b="1" dirty="0">
                  <a:solidFill>
                    <a:srgbClr val="275C8D"/>
                  </a:solidFill>
                  <a:latin typeface="Century Gothic" panose="020B0502020202020204" pitchFamily="34" charset="0"/>
                  <a:sym typeface="+mn-ea"/>
                </a:rPr>
                <a:t>é</a:t>
              </a:r>
              <a:r>
                <a:rPr lang="en-US" altLang="fr-FR" sz="2000" b="1" dirty="0">
                  <a:solidFill>
                    <a:srgbClr val="275C8D"/>
                  </a:solidFill>
                  <a:latin typeface="Century Gothic" panose="020B0502020202020204" pitchFamily="34" charset="0"/>
                  <a:sym typeface="+mn-ea"/>
                </a:rPr>
                <a:t>matique</a:t>
              </a:r>
              <a:endParaRPr lang="en-US" altLang="fr-FR" sz="2000" b="1" dirty="0">
                <a:solidFill>
                  <a:srgbClr val="275C8D"/>
                </a:solidFill>
                <a:latin typeface="Century Gothic" panose="020B0502020202020204" pitchFamily="34" charset="0"/>
                <a:sym typeface="+mn-ea"/>
              </a:endParaRPr>
            </a:p>
          </p:txBody>
        </p:sp>
        <p:sp>
          <p:nvSpPr>
            <p:cNvPr id="29" name="Rectangle : coins arrondis 28"/>
            <p:cNvSpPr/>
            <p:nvPr/>
          </p:nvSpPr>
          <p:spPr>
            <a:xfrm>
              <a:off x="605" y="4078"/>
              <a:ext cx="1006" cy="883"/>
            </a:xfrm>
            <a:prstGeom prst="roundRect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2500" b="1" dirty="0">
                  <a:latin typeface="Century Gothic" panose="020B0502020202020204" pitchFamily="34" charset="0"/>
                </a:rPr>
                <a:t>1</a:t>
              </a:r>
              <a:endParaRPr lang="en-US" sz="2500" b="1" dirty="0">
                <a:latin typeface="Century Gothic" panose="020B0502020202020204" pitchFamily="34" charset="0"/>
              </a:endParaRPr>
            </a:p>
          </p:txBody>
        </p:sp>
      </p:grp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A047-6DF3-4C8C-9C12-C17027B947F2}" type="slidenum">
              <a:rPr lang="en-US" smtClean="0"/>
            </a:fld>
            <a:endParaRPr lang="en-US"/>
          </a:p>
        </p:txBody>
      </p:sp>
      <p:sp>
        <p:nvSpPr>
          <p:cNvPr id="113" name="Google Shape;113;p14"/>
          <p:cNvSpPr/>
          <p:nvPr/>
        </p:nvSpPr>
        <p:spPr>
          <a:xfrm>
            <a:off x="2900045" y="1058545"/>
            <a:ext cx="57150" cy="54292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1803400" y="2766060"/>
            <a:ext cx="8783955" cy="1325880"/>
          </a:xfrm>
        </p:spPr>
        <p:txBody>
          <a:bodyPr>
            <a:normAutofit/>
          </a:bodyPr>
          <a:lstStyle/>
          <a:p>
            <a:pPr algn="ctr"/>
            <a:r>
              <a:rPr lang="en-US" altLang="fr-FR" sz="5800" b="1" dirty="0">
                <a:solidFill>
                  <a:srgbClr val="275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Contexte – Mauripost</a:t>
            </a:r>
            <a:endParaRPr lang="en-US" altLang="fr-FR" sz="5800" b="1" dirty="0">
              <a:solidFill>
                <a:srgbClr val="275C8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A047-6DF3-4C8C-9C12-C17027B947F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Image 3"/>
          <p:cNvPicPr/>
          <p:nvPr/>
        </p:nvPicPr>
        <p:blipFill>
          <a:blip r:embed="rId1"/>
          <a:stretch>
            <a:fillRect/>
          </a:stretch>
        </p:blipFill>
        <p:spPr>
          <a:xfrm>
            <a:off x="628650" y="2046605"/>
            <a:ext cx="4371975" cy="3206750"/>
          </a:xfrm>
          <a:prstGeom prst="rect">
            <a:avLst/>
          </a:prstGeom>
        </p:spPr>
      </p:pic>
      <p:grpSp>
        <p:nvGrpSpPr>
          <p:cNvPr id="7" name="Grouper 6"/>
          <p:cNvGrpSpPr/>
          <p:nvPr/>
        </p:nvGrpSpPr>
        <p:grpSpPr>
          <a:xfrm rot="0">
            <a:off x="571500" y="400050"/>
            <a:ext cx="11594465" cy="542290"/>
            <a:chOff x="900" y="630"/>
            <a:chExt cx="18259" cy="854"/>
          </a:xfrm>
        </p:grpSpPr>
        <p:sp>
          <p:nvSpPr>
            <p:cNvPr id="112" name="Google Shape;112;p14"/>
            <p:cNvSpPr txBox="1"/>
            <p:nvPr/>
          </p:nvSpPr>
          <p:spPr>
            <a:xfrm>
              <a:off x="1125" y="630"/>
              <a:ext cx="18034" cy="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5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Présentation de la Mauripost</a:t>
              </a:r>
              <a:endParaRPr lang="en-US" sz="2850" b="1" i="0" u="none" strike="noStrike" cap="none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900" y="630"/>
              <a:ext cx="90" cy="85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pSp>
        <p:nvGrpSpPr>
          <p:cNvPr id="9" name="Grouper 8"/>
          <p:cNvGrpSpPr/>
          <p:nvPr/>
        </p:nvGrpSpPr>
        <p:grpSpPr>
          <a:xfrm>
            <a:off x="5583555" y="1772285"/>
            <a:ext cx="5819775" cy="415290"/>
            <a:chOff x="8561" y="3223"/>
            <a:chExt cx="9165" cy="654"/>
          </a:xfrm>
        </p:grpSpPr>
        <p:pic>
          <p:nvPicPr>
            <p:cNvPr id="106" name="Google Shape;106;p14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8561" y="3445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4" name="Google Shape;94;p14"/>
            <p:cNvSpPr txBox="1"/>
            <p:nvPr/>
          </p:nvSpPr>
          <p:spPr>
            <a:xfrm>
              <a:off x="9236" y="3223"/>
              <a:ext cx="8490" cy="6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Création</a:t>
              </a:r>
              <a:r>
                <a:rPr lang="en-US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 </a:t>
              </a:r>
              <a:r>
                <a:rPr lang="en-US" altLang="fr-FR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D</a:t>
              </a:r>
              <a:r>
                <a:rPr lang="en-US" altLang="en-US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é</a:t>
              </a:r>
              <a:r>
                <a:rPr lang="en-US" altLang="fr-FR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cret du 29 d</a:t>
              </a:r>
              <a:r>
                <a:rPr lang="en-US" altLang="en-US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é</a:t>
              </a:r>
              <a:r>
                <a:rPr lang="en-US" altLang="fr-FR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cembre 1999.</a:t>
              </a:r>
              <a:endParaRPr lang="en-US" altLang="fr-FR" b="0" i="0" u="none" strike="noStrike" cap="none">
                <a:solidFill>
                  <a:srgbClr val="334155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</p:grpSp>
      <p:grpSp>
        <p:nvGrpSpPr>
          <p:cNvPr id="6" name="Grouper 5"/>
          <p:cNvGrpSpPr/>
          <p:nvPr/>
        </p:nvGrpSpPr>
        <p:grpSpPr>
          <a:xfrm>
            <a:off x="5583555" y="3121660"/>
            <a:ext cx="5277485" cy="830580"/>
            <a:chOff x="10178" y="5094"/>
            <a:chExt cx="8311" cy="1308"/>
          </a:xfrm>
        </p:grpSpPr>
        <p:pic>
          <p:nvPicPr>
            <p:cNvPr id="108" name="Google Shape;108;p14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10178" y="5270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4"/>
            <p:cNvSpPr txBox="1"/>
            <p:nvPr/>
          </p:nvSpPr>
          <p:spPr>
            <a:xfrm>
              <a:off x="10860" y="5094"/>
              <a:ext cx="7629" cy="130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Réseau </a:t>
              </a:r>
              <a:r>
                <a:rPr lang="en-US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plusieurs </a:t>
              </a:r>
              <a:r>
                <a:rPr lang="en-US" altLang="fr-FR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bureaux de poste r</a:t>
              </a:r>
              <a:r>
                <a:rPr lang="en-US" altLang="en-US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é</a:t>
              </a:r>
              <a:r>
                <a:rPr lang="en-US" altLang="fr-FR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partis sur le territoire Mauritanien.</a:t>
              </a:r>
              <a:endParaRPr lang="en-US" altLang="fr-FR" i="0" u="none" strike="noStrike" cap="none">
                <a:solidFill>
                  <a:srgbClr val="334155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</p:grpSp>
      <p:grpSp>
        <p:nvGrpSpPr>
          <p:cNvPr id="8" name="Grouper 7"/>
          <p:cNvGrpSpPr/>
          <p:nvPr/>
        </p:nvGrpSpPr>
        <p:grpSpPr>
          <a:xfrm>
            <a:off x="5583555" y="4653280"/>
            <a:ext cx="5777230" cy="1661795"/>
            <a:chOff x="8628" y="7143"/>
            <a:chExt cx="9098" cy="2617"/>
          </a:xfrm>
        </p:grpSpPr>
        <p:pic>
          <p:nvPicPr>
            <p:cNvPr id="109" name="Google Shape;109;p14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8628" y="7328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14"/>
            <p:cNvSpPr txBox="1"/>
            <p:nvPr/>
          </p:nvSpPr>
          <p:spPr>
            <a:xfrm>
              <a:off x="9236" y="7143"/>
              <a:ext cx="8490" cy="261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b="1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Services Proposés</a:t>
              </a:r>
              <a:r>
                <a:rPr lang="en-US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 </a:t>
              </a:r>
              <a:endParaRPr lang="en-US" b="0" i="0" u="none" strike="noStrike" cap="none">
                <a:solidFill>
                  <a:srgbClr val="334155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  <a:p>
              <a:pPr marL="0" marR="0" lvl="0" indent="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fr-FR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Courrier &amp; colis (EMS)</a:t>
              </a:r>
              <a:endParaRPr lang="en-US" altLang="fr-FR" b="0" i="0" u="none" strike="noStrike" cap="none">
                <a:solidFill>
                  <a:srgbClr val="334155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  <a:p>
              <a:pPr marL="0" marR="0" lvl="0" indent="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fr-FR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CCP &amp; </a:t>
              </a:r>
              <a:r>
                <a:rPr lang="en-US" altLang="en-US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é</a:t>
              </a:r>
              <a:r>
                <a:rPr lang="en-US" altLang="fr-FR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pargne</a:t>
              </a:r>
              <a:endParaRPr lang="en-US" altLang="fr-FR" b="0" i="0" u="none" strike="noStrike" cap="none">
                <a:solidFill>
                  <a:srgbClr val="334155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  <a:p>
              <a:pPr marL="0" marR="0" lvl="0" indent="4572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fr-FR" b="0" i="0" u="none" strike="noStrike" cap="none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Transfert d'argent (Emana)</a:t>
              </a:r>
              <a:endParaRPr lang="en-US" altLang="fr-FR" b="0" i="0" u="none" strike="noStrike" cap="none">
                <a:solidFill>
                  <a:srgbClr val="334155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</p:grpSp>
    </p:spTree>
    <p:custDataLst>
      <p:tags r:id="rId5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" name="Google Shape;116;p13"/>
          <p:cNvSpPr txBox="1"/>
          <p:nvPr/>
        </p:nvSpPr>
        <p:spPr>
          <a:xfrm>
            <a:off x="714375" y="476250"/>
            <a:ext cx="11451431" cy="3917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rPr>
              <a:t>Problématique &amp; Objectifs</a:t>
            </a:r>
            <a:endParaRPr lang="en-US" sz="2550" b="1" i="0" u="none" strike="noStrike" cap="none">
              <a:solidFill>
                <a:srgbClr val="0F2942"/>
              </a:solidFill>
              <a:latin typeface="Century Gothic" panose="020B0502020202020204" pitchFamily="34" charset="0"/>
              <a:ea typeface="Poppins"/>
              <a:cs typeface="Century Gothic" panose="020B0502020202020204" pitchFamily="34" charset="0"/>
              <a:sym typeface="Poppins"/>
            </a:endParaRPr>
          </a:p>
        </p:txBody>
      </p:sp>
      <p:sp>
        <p:nvSpPr>
          <p:cNvPr id="14" name="Google Shape;117;p13"/>
          <p:cNvSpPr/>
          <p:nvPr/>
        </p:nvSpPr>
        <p:spPr>
          <a:xfrm>
            <a:off x="571500" y="476250"/>
            <a:ext cx="57150" cy="485775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grpSp>
        <p:nvGrpSpPr>
          <p:cNvPr id="3" name="Grouper 2"/>
          <p:cNvGrpSpPr/>
          <p:nvPr/>
        </p:nvGrpSpPr>
        <p:grpSpPr>
          <a:xfrm>
            <a:off x="321945" y="1498600"/>
            <a:ext cx="5380990" cy="3860800"/>
            <a:chOff x="507" y="2360"/>
            <a:chExt cx="8474" cy="6080"/>
          </a:xfrm>
        </p:grpSpPr>
        <p:pic>
          <p:nvPicPr>
            <p:cNvPr id="15" name="Google Shape;85;p13" descr="image.png"/>
            <p:cNvPicPr preferRelativeResize="0"/>
            <p:nvPr/>
          </p:nvPicPr>
          <p:blipFill rotWithShape="1">
            <a:blip r:embed="rId1"/>
            <a:srcRect/>
            <a:stretch>
              <a:fillRect/>
            </a:stretch>
          </p:blipFill>
          <p:spPr>
            <a:xfrm>
              <a:off x="507" y="2360"/>
              <a:ext cx="8475" cy="60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" name="Google Shape;93;p13"/>
            <p:cNvSpPr txBox="1"/>
            <p:nvPr/>
          </p:nvSpPr>
          <p:spPr>
            <a:xfrm>
              <a:off x="1800" y="2760"/>
              <a:ext cx="5026" cy="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Limites du Système Actuel</a:t>
              </a:r>
              <a:endParaRPr lang="en-US" sz="2000" b="1" i="0" u="none" strike="noStrike" cap="none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pic>
          <p:nvPicPr>
            <p:cNvPr id="17" name="Google Shape;92;p13" descr="image.png"/>
            <p:cNvPicPr preferRelativeResize="0"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1125" y="2812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" name="Rectangle : coins arrondis 8"/>
            <p:cNvSpPr/>
            <p:nvPr/>
          </p:nvSpPr>
          <p:spPr>
            <a:xfrm>
              <a:off x="2768" y="3639"/>
              <a:ext cx="4960" cy="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b="1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Absence de supervision</a:t>
              </a:r>
              <a:endParaRPr lang="en-US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  <p:sp>
          <p:nvSpPr>
            <p:cNvPr id="20" name="Rectangle : coins arrondis 8"/>
            <p:cNvSpPr/>
            <p:nvPr/>
          </p:nvSpPr>
          <p:spPr>
            <a:xfrm>
              <a:off x="2768" y="4557"/>
              <a:ext cx="5750" cy="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b="1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Pannes détectées tardivement</a:t>
              </a:r>
              <a:endParaRPr lang="en-US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  <p:sp>
          <p:nvSpPr>
            <p:cNvPr id="21" name="Rectangle : coins arrondis 8"/>
            <p:cNvSpPr/>
            <p:nvPr/>
          </p:nvSpPr>
          <p:spPr>
            <a:xfrm>
              <a:off x="2768" y="5474"/>
              <a:ext cx="4415" cy="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b="1">
                  <a:solidFill>
                    <a:srgbClr val="334155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Manque d'historique</a:t>
              </a:r>
              <a:endParaRPr lang="en-US" b="1" dirty="0">
                <a:solidFill>
                  <a:srgbClr val="334155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  <p:sp>
          <p:nvSpPr>
            <p:cNvPr id="22" name="Rectangle : coins arrondis 8"/>
            <p:cNvSpPr/>
            <p:nvPr/>
          </p:nvSpPr>
          <p:spPr>
            <a:xfrm>
              <a:off x="2768" y="6454"/>
              <a:ext cx="5750" cy="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b="1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Risques majeurs de saturation</a:t>
              </a:r>
              <a:endParaRPr lang="en-US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  <p:sp>
          <p:nvSpPr>
            <p:cNvPr id="23" name="Rectangle : coins arrondis 8"/>
            <p:cNvSpPr/>
            <p:nvPr/>
          </p:nvSpPr>
          <p:spPr>
            <a:xfrm>
              <a:off x="2768" y="7523"/>
              <a:ext cx="4961" cy="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b="1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Vulnérabilités de sécurité</a:t>
              </a:r>
              <a:endParaRPr lang="en-US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  <p:pic>
          <p:nvPicPr>
            <p:cNvPr id="106" name="Google Shape;106;p13" descr="image.png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2107" y="3720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3" descr="image.png"/>
            <p:cNvPicPr preferRelativeResize="0"/>
            <p:nvPr/>
          </p:nvPicPr>
          <p:blipFill rotWithShape="1">
            <a:blip r:embed="rId4"/>
            <a:srcRect/>
            <a:stretch>
              <a:fillRect/>
            </a:stretch>
          </p:blipFill>
          <p:spPr>
            <a:xfrm>
              <a:off x="2107" y="4637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8" name="Google Shape;108;p13" descr="image.png"/>
            <p:cNvPicPr preferRelativeResize="0"/>
            <p:nvPr/>
          </p:nvPicPr>
          <p:blipFill rotWithShape="1">
            <a:blip r:embed="rId5"/>
            <a:srcRect/>
            <a:stretch>
              <a:fillRect/>
            </a:stretch>
          </p:blipFill>
          <p:spPr>
            <a:xfrm>
              <a:off x="2107" y="5554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p13" descr="image.png"/>
            <p:cNvPicPr preferRelativeResize="0"/>
            <p:nvPr/>
          </p:nvPicPr>
          <p:blipFill rotWithShape="1">
            <a:blip r:embed="rId6"/>
            <a:srcRect/>
            <a:stretch>
              <a:fillRect/>
            </a:stretch>
          </p:blipFill>
          <p:spPr>
            <a:xfrm>
              <a:off x="2107" y="6462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0" name="Google Shape;110;p13" descr="image.png"/>
            <p:cNvPicPr preferRelativeResize="0"/>
            <p:nvPr/>
          </p:nvPicPr>
          <p:blipFill rotWithShape="1">
            <a:blip r:embed="rId7"/>
            <a:srcRect/>
            <a:stretch>
              <a:fillRect/>
            </a:stretch>
          </p:blipFill>
          <p:spPr>
            <a:xfrm>
              <a:off x="2107" y="7523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" name="Grouper 1"/>
          <p:cNvGrpSpPr/>
          <p:nvPr/>
        </p:nvGrpSpPr>
        <p:grpSpPr>
          <a:xfrm>
            <a:off x="6238875" y="1498600"/>
            <a:ext cx="5380990" cy="3860800"/>
            <a:chOff x="9825" y="2360"/>
            <a:chExt cx="8474" cy="6080"/>
          </a:xfrm>
        </p:grpSpPr>
        <p:pic>
          <p:nvPicPr>
            <p:cNvPr id="24" name="Google Shape;86;p13" descr="image.png"/>
            <p:cNvPicPr preferRelativeResize="0"/>
            <p:nvPr/>
          </p:nvPicPr>
          <p:blipFill rotWithShape="1">
            <a:blip r:embed="rId8"/>
            <a:srcRect/>
            <a:stretch>
              <a:fillRect/>
            </a:stretch>
          </p:blipFill>
          <p:spPr>
            <a:xfrm>
              <a:off x="9825" y="2360"/>
              <a:ext cx="8475" cy="608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" name="Google Shape;100;p13"/>
            <p:cNvSpPr txBox="1"/>
            <p:nvPr/>
          </p:nvSpPr>
          <p:spPr>
            <a:xfrm>
              <a:off x="11236" y="2760"/>
              <a:ext cx="4825" cy="48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Objectifs de la Solution</a:t>
              </a:r>
              <a:endParaRPr lang="en-US" sz="2000" b="1" i="0" u="none" strike="noStrike" cap="none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pic>
          <p:nvPicPr>
            <p:cNvPr id="26" name="Google Shape;99;p13" descr="image.png"/>
            <p:cNvPicPr preferRelativeResize="0"/>
            <p:nvPr/>
          </p:nvPicPr>
          <p:blipFill rotWithShape="1">
            <a:blip r:embed="rId9"/>
            <a:srcRect/>
            <a:stretch>
              <a:fillRect/>
            </a:stretch>
          </p:blipFill>
          <p:spPr>
            <a:xfrm>
              <a:off x="10647" y="2812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" name="Rectangle : coins arrondis 8"/>
            <p:cNvSpPr/>
            <p:nvPr/>
          </p:nvSpPr>
          <p:spPr>
            <a:xfrm>
              <a:off x="12135" y="3639"/>
              <a:ext cx="4960" cy="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b="1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Centraliser le monitoring</a:t>
              </a:r>
              <a:endParaRPr lang="en-US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  <p:sp>
          <p:nvSpPr>
            <p:cNvPr id="28" name="Rectangle : coins arrondis 8"/>
            <p:cNvSpPr/>
            <p:nvPr/>
          </p:nvSpPr>
          <p:spPr>
            <a:xfrm>
              <a:off x="12135" y="4637"/>
              <a:ext cx="4960" cy="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b="1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Anticipation proactive</a:t>
              </a:r>
              <a:endParaRPr lang="en-US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  <p:sp>
          <p:nvSpPr>
            <p:cNvPr id="29" name="Rectangle : coins arrondis 8"/>
            <p:cNvSpPr/>
            <p:nvPr/>
          </p:nvSpPr>
          <p:spPr>
            <a:xfrm>
              <a:off x="12135" y="5635"/>
              <a:ext cx="4513" cy="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b="1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Suivi des performances </a:t>
              </a:r>
              <a:endParaRPr lang="en-US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  <p:sp>
          <p:nvSpPr>
            <p:cNvPr id="30" name="Rectangle : coins arrondis 8"/>
            <p:cNvSpPr/>
            <p:nvPr/>
          </p:nvSpPr>
          <p:spPr>
            <a:xfrm>
              <a:off x="12135" y="6633"/>
              <a:ext cx="4513" cy="51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b="1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Alerte instantanée</a:t>
              </a:r>
              <a:endParaRPr lang="en-US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  <p:pic>
          <p:nvPicPr>
            <p:cNvPr id="111" name="Google Shape;111;p13" descr="image.png"/>
            <p:cNvPicPr preferRelativeResize="0"/>
            <p:nvPr/>
          </p:nvPicPr>
          <p:blipFill rotWithShape="1">
            <a:blip r:embed="rId10"/>
            <a:srcRect/>
            <a:stretch>
              <a:fillRect/>
            </a:stretch>
          </p:blipFill>
          <p:spPr>
            <a:xfrm>
              <a:off x="11432" y="3720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3" descr="image.png"/>
            <p:cNvPicPr preferRelativeResize="0"/>
            <p:nvPr/>
          </p:nvPicPr>
          <p:blipFill rotWithShape="1">
            <a:blip r:embed="rId11"/>
            <a:srcRect/>
            <a:stretch>
              <a:fillRect/>
            </a:stretch>
          </p:blipFill>
          <p:spPr>
            <a:xfrm>
              <a:off x="11432" y="4656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3" name="Google Shape;113;p13" descr="image.png"/>
            <p:cNvPicPr preferRelativeResize="0"/>
            <p:nvPr/>
          </p:nvPicPr>
          <p:blipFill rotWithShape="1">
            <a:blip r:embed="rId12"/>
            <a:srcRect/>
            <a:stretch>
              <a:fillRect/>
            </a:stretch>
          </p:blipFill>
          <p:spPr>
            <a:xfrm>
              <a:off x="11432" y="5592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13" descr="image.png"/>
            <p:cNvPicPr preferRelativeResize="0"/>
            <p:nvPr/>
          </p:nvPicPr>
          <p:blipFill rotWithShape="1">
            <a:blip r:embed="rId13"/>
            <a:srcRect/>
            <a:stretch>
              <a:fillRect/>
            </a:stretch>
          </p:blipFill>
          <p:spPr>
            <a:xfrm>
              <a:off x="11432" y="6597"/>
              <a:ext cx="432" cy="432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custDataLst>
      <p:tags r:id="rId14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Titre 5"/>
          <p:cNvSpPr>
            <a:spLocks noGrp="1"/>
          </p:cNvSpPr>
          <p:nvPr>
            <p:ph type="title"/>
          </p:nvPr>
        </p:nvSpPr>
        <p:spPr>
          <a:xfrm>
            <a:off x="887730" y="2766060"/>
            <a:ext cx="10351770" cy="1325880"/>
          </a:xfrm>
        </p:spPr>
        <p:txBody>
          <a:bodyPr>
            <a:normAutofit fontScale="90000"/>
          </a:bodyPr>
          <a:lstStyle/>
          <a:p>
            <a:pPr algn="ctr"/>
            <a:r>
              <a:rPr lang="fr-FR" sz="5800" b="1" dirty="0">
                <a:solidFill>
                  <a:srgbClr val="275C8D"/>
                </a:solidFill>
                <a:latin typeface="Century Gothic" panose="020B0502020202020204" pitchFamily="34" charset="0"/>
                <a:sym typeface="+mn-ea"/>
              </a:rPr>
              <a:t>  </a:t>
            </a:r>
            <a:r>
              <a:rPr lang="en-US" altLang="fr-FR" sz="5800" b="1" dirty="0">
                <a:solidFill>
                  <a:srgbClr val="275C8D"/>
                </a:solidFill>
                <a:latin typeface="Century Gothic" panose="020B0502020202020204" pitchFamily="34" charset="0"/>
                <a:sym typeface="+mn-ea"/>
              </a:rPr>
              <a:t>    </a:t>
            </a:r>
            <a:r>
              <a:rPr lang="en-US" altLang="en-US" sz="5800" b="1" dirty="0">
                <a:solidFill>
                  <a:srgbClr val="275C8D"/>
                </a:solidFill>
                <a:sym typeface="+mn-ea"/>
              </a:rPr>
              <a:t>É</a:t>
            </a:r>
            <a:r>
              <a:rPr lang="en-US" altLang="fr-FR" sz="5800" b="1" dirty="0">
                <a:solidFill>
                  <a:srgbClr val="275C8D"/>
                </a:solidFill>
                <a:sym typeface="+mn-ea"/>
              </a:rPr>
              <a:t>tat de l’art </a:t>
            </a:r>
            <a:r>
              <a:rPr lang="fr-FR" sz="5800" b="1" dirty="0">
                <a:solidFill>
                  <a:srgbClr val="275C8D"/>
                </a:solidFill>
                <a:latin typeface="Century Gothic" panose="020B0502020202020204" pitchFamily="34" charset="0"/>
                <a:sym typeface="+mn-ea"/>
              </a:rPr>
              <a:t>&amp;</a:t>
            </a:r>
            <a:r>
              <a:rPr lang="en-US" altLang="fr-FR" sz="5800" b="1" dirty="0">
                <a:solidFill>
                  <a:srgbClr val="275C8D"/>
                </a:solidFill>
                <a:sym typeface="+mn-ea"/>
              </a:rPr>
              <a:t> choix</a:t>
            </a:r>
            <a:br>
              <a:rPr lang="en-US" altLang="fr-FR" sz="5800" b="1" dirty="0">
                <a:solidFill>
                  <a:srgbClr val="275C8D"/>
                </a:solidFill>
                <a:sym typeface="+mn-ea"/>
              </a:rPr>
            </a:br>
            <a:r>
              <a:rPr lang="en-US" altLang="fr-FR" sz="5800" b="1" dirty="0">
                <a:solidFill>
                  <a:srgbClr val="275C8D"/>
                </a:solidFill>
                <a:sym typeface="+mn-ea"/>
              </a:rPr>
              <a:t>de la solution</a:t>
            </a:r>
            <a:r>
              <a:rPr lang="fr-FR" sz="5800" b="1" dirty="0">
                <a:solidFill>
                  <a:srgbClr val="275C8D"/>
                </a:solidFill>
                <a:latin typeface="Century Gothic" panose="020B0502020202020204" pitchFamily="34" charset="0"/>
                <a:sym typeface="+mn-ea"/>
              </a:rPr>
              <a:t>         </a:t>
            </a:r>
            <a:endParaRPr lang="en-US" sz="5800" b="1" dirty="0">
              <a:solidFill>
                <a:srgbClr val="275C8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A047-6DF3-4C8C-9C12-C17027B947F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Grouper 6"/>
          <p:cNvGrpSpPr/>
          <p:nvPr/>
        </p:nvGrpSpPr>
        <p:grpSpPr>
          <a:xfrm>
            <a:off x="908050" y="326390"/>
            <a:ext cx="10942320" cy="542925"/>
            <a:chOff x="900" y="630"/>
            <a:chExt cx="17232" cy="855"/>
          </a:xfrm>
        </p:grpSpPr>
        <p:sp>
          <p:nvSpPr>
            <p:cNvPr id="112" name="Google Shape;112;p14"/>
            <p:cNvSpPr txBox="1"/>
            <p:nvPr/>
          </p:nvSpPr>
          <p:spPr>
            <a:xfrm>
              <a:off x="1125" y="630"/>
              <a:ext cx="17007" cy="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fr-FR" sz="285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Comparaison des solutions de supervision</a:t>
              </a:r>
              <a:endParaRPr lang="en-US" altLang="fr-FR" sz="2850" b="1" i="0" u="none" strike="noStrike" cap="none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900" y="630"/>
              <a:ext cx="90" cy="85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graphicFrame>
        <p:nvGraphicFramePr>
          <p:cNvPr id="2" name="Table 1"/>
          <p:cNvGraphicFramePr/>
          <p:nvPr/>
        </p:nvGraphicFramePr>
        <p:xfrm>
          <a:off x="1793240" y="1109980"/>
          <a:ext cx="9314180" cy="3937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545"/>
                <a:gridCol w="2328545"/>
                <a:gridCol w="2328545"/>
                <a:gridCol w="2328545"/>
              </a:tblGrid>
              <a:tr h="595630">
                <a:tc>
                  <a:txBody>
                    <a:bodyPr/>
                    <a:p>
                      <a:pPr algn="ctr"/>
                      <a:r>
                        <a:rPr sz="2000"/>
                        <a:t>Critère</a:t>
                      </a:r>
                      <a:endParaRPr sz="2000"/>
                    </a:p>
                  </a:txBody>
                  <a:tcPr marL="0" marR="0" marT="0" marB="0" anchor="ctr" anchorCtr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Nagios</a:t>
                      </a:r>
                      <a:endParaRPr lang="en-US" altLang="fr-FR"/>
                    </a:p>
                  </a:txBody>
                  <a:tcPr anchor="ctr" anchorCtr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Zabbix</a:t>
                      </a:r>
                      <a:endParaRPr lang="en-US" altLang="fr-FR"/>
                    </a:p>
                  </a:txBody>
                  <a:tcPr anchor="ctr" anchorCtr="0">
                    <a:solidFill>
                      <a:srgbClr val="00B050"/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Prometheus</a:t>
                      </a:r>
                      <a:endParaRPr lang="en-US" altLang="fr-FR"/>
                    </a:p>
                  </a:txBody>
                  <a:tcPr anchor="ctr" anchorCtr="0">
                    <a:solidFill>
                      <a:srgbClr val="00B050"/>
                    </a:solidFill>
                  </a:tcPr>
                </a:tc>
              </a:tr>
              <a:tr h="5956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 b="1"/>
                        <a:t>D</a:t>
                      </a:r>
                      <a:r>
                        <a:rPr lang="en-US" altLang="en-US" b="1"/>
                        <a:t>é</a:t>
                      </a:r>
                      <a:r>
                        <a:rPr lang="en-US" altLang="fr-FR" b="1"/>
                        <a:t>couverte auto</a:t>
                      </a:r>
                      <a:endParaRPr lang="en-US" altLang="fr-FR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Limit</a:t>
                      </a:r>
                      <a:r>
                        <a:rPr lang="en-US" altLang="en-US"/>
                        <a:t>ée</a:t>
                      </a:r>
                      <a:endParaRPr lang="en-US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Excellente</a:t>
                      </a:r>
                      <a:endParaRPr lang="en-US" altLang="fr-FR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Partielle</a:t>
                      </a:r>
                      <a:endParaRPr lang="en-US" altLang="fr-FR"/>
                    </a:p>
                  </a:txBody>
                  <a:tcPr anchor="ctr" anchorCtr="0"/>
                </a:tc>
              </a:tr>
              <a:tr h="59626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 b="1"/>
                        <a:t>Supervision SNMP</a:t>
                      </a:r>
                      <a:endParaRPr lang="en-US" altLang="fr-FR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Via plugin</a:t>
                      </a:r>
                      <a:endParaRPr lang="en-US" altLang="fr-FR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Native</a:t>
                      </a:r>
                      <a:endParaRPr lang="en-US" altLang="fr-FR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Via exporter</a:t>
                      </a:r>
                      <a:endParaRPr lang="en-US" altLang="fr-FR"/>
                    </a:p>
                  </a:txBody>
                  <a:tcPr anchor="ctr" anchorCtr="0"/>
                </a:tc>
              </a:tr>
              <a:tr h="59563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 b="1"/>
                        <a:t>Interface Web</a:t>
                      </a:r>
                      <a:endParaRPr lang="en-US" altLang="fr-FR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Vieillissante</a:t>
                      </a:r>
                      <a:endParaRPr lang="en-US" altLang="fr-FR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Moderne</a:t>
                      </a:r>
                      <a:endParaRPr lang="en-US" altLang="fr-FR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Minimaliste</a:t>
                      </a:r>
                      <a:endParaRPr lang="en-US" altLang="fr-FR"/>
                    </a:p>
                  </a:txBody>
                  <a:tcPr anchor="ctr" anchorCtr="0"/>
                </a:tc>
              </a:tr>
              <a:tr h="6400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 b="1"/>
                        <a:t>Templates / int</a:t>
                      </a:r>
                      <a:r>
                        <a:rPr lang="en-US" altLang="en-US" b="1"/>
                        <a:t>é</a:t>
                      </a:r>
                      <a:r>
                        <a:rPr lang="en-US" altLang="fr-FR" b="1"/>
                        <a:t>grations</a:t>
                      </a:r>
                      <a:endParaRPr lang="en-US" altLang="fr-FR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Limit</a:t>
                      </a:r>
                      <a:r>
                        <a:rPr lang="en-US" altLang="en-US"/>
                        <a:t>é</a:t>
                      </a:r>
                      <a:r>
                        <a:rPr lang="en-US" altLang="fr-FR"/>
                        <a:t>s</a:t>
                      </a:r>
                      <a:endParaRPr lang="en-US" altLang="fr-FR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Riche templates</a:t>
                      </a:r>
                      <a:endParaRPr lang="en-US" altLang="fr-FR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Via exporters</a:t>
                      </a:r>
                      <a:endParaRPr lang="en-US" altLang="fr-FR"/>
                    </a:p>
                  </a:txBody>
                  <a:tcPr anchor="ctr" anchorCtr="0"/>
                </a:tc>
              </a:tr>
              <a:tr h="9144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 b="1"/>
                        <a:t>Adapt</a:t>
                      </a:r>
                      <a:r>
                        <a:rPr lang="en-US" altLang="en-US" b="1"/>
                        <a:t>é </a:t>
                      </a:r>
                      <a:r>
                        <a:rPr lang="en-US" altLang="fr-FR" b="1"/>
                        <a:t>aux infrastructures traditionnelles</a:t>
                      </a:r>
                      <a:endParaRPr lang="en-US" altLang="fr-FR" b="1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Moyen</a:t>
                      </a:r>
                      <a:endParaRPr lang="en-US" altLang="fr-FR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Excellent</a:t>
                      </a:r>
                      <a:endParaRPr lang="en-US" altLang="fr-FR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fr-FR"/>
                        <a:t>Limit</a:t>
                      </a:r>
                      <a:r>
                        <a:rPr lang="en-US" altLang="en-US" sz="1800" b="1">
                          <a:sym typeface="+mn-ea"/>
                        </a:rPr>
                        <a:t>é</a:t>
                      </a:r>
                      <a:endParaRPr lang="en-US" altLang="fr-FR"/>
                    </a:p>
                  </a:txBody>
                  <a:tcPr anchor="ctr" anchorCtr="0"/>
                </a:tc>
              </a:tr>
            </a:tbl>
          </a:graphicData>
        </a:graphic>
      </p:graphicFrame>
      <p:sp>
        <p:nvSpPr>
          <p:cNvPr id="5" name="Zone de texte 4"/>
          <p:cNvSpPr txBox="1"/>
          <p:nvPr/>
        </p:nvSpPr>
        <p:spPr>
          <a:xfrm>
            <a:off x="1369695" y="5535295"/>
            <a:ext cx="8899525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fr-FR" sz="2000" b="1" i="1"/>
              <a:t>Zabbix</a:t>
            </a:r>
            <a:r>
              <a:rPr lang="en-US" altLang="fr-FR"/>
              <a:t>  a </a:t>
            </a:r>
            <a:r>
              <a:rPr lang="en-US" altLang="en-US"/>
              <a:t>é</a:t>
            </a:r>
            <a:r>
              <a:rPr lang="en-US" altLang="fr-FR"/>
              <a:t>t</a:t>
            </a:r>
            <a:r>
              <a:rPr lang="en-US" altLang="en-US"/>
              <a:t>é </a:t>
            </a:r>
            <a:r>
              <a:rPr lang="en-US" altLang="fr-FR"/>
              <a:t>retenu pour sa maturit</a:t>
            </a:r>
            <a:r>
              <a:rPr lang="en-US" altLang="en-US"/>
              <a:t>é, </a:t>
            </a:r>
            <a:r>
              <a:rPr lang="en-US" altLang="fr-FR"/>
              <a:t>sa d</a:t>
            </a:r>
            <a:r>
              <a:rPr lang="en-US" altLang="en-US"/>
              <a:t>é</a:t>
            </a:r>
            <a:r>
              <a:rPr lang="en-US" altLang="fr-FR"/>
              <a:t>couverte automatique, ses templates int</a:t>
            </a:r>
            <a:r>
              <a:rPr lang="en-US" altLang="en-US"/>
              <a:t>é</a:t>
            </a:r>
            <a:r>
              <a:rPr lang="en-US" altLang="fr-FR"/>
              <a:t>gr</a:t>
            </a:r>
            <a:r>
              <a:rPr lang="en-US" altLang="en-US"/>
              <a:t>é</a:t>
            </a:r>
            <a:r>
              <a:rPr lang="en-US" altLang="fr-FR"/>
              <a:t>s, sa prise en charge native du SNMP et sa forte ad</a:t>
            </a:r>
            <a:r>
              <a:rPr lang="en-US" altLang="en-US"/>
              <a:t>é</a:t>
            </a:r>
            <a:r>
              <a:rPr lang="en-US" altLang="fr-FR"/>
              <a:t>quation avec une infrastructure r</a:t>
            </a:r>
            <a:r>
              <a:rPr lang="en-US" altLang="en-US"/>
              <a:t>é</a:t>
            </a:r>
            <a:r>
              <a:rPr lang="en-US" altLang="fr-FR"/>
              <a:t>seau traditionnelle.</a:t>
            </a:r>
            <a:endParaRPr lang="en-US" altLang="fr-FR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Grouper 1"/>
          <p:cNvGrpSpPr/>
          <p:nvPr/>
        </p:nvGrpSpPr>
        <p:grpSpPr>
          <a:xfrm>
            <a:off x="908050" y="326390"/>
            <a:ext cx="10942320" cy="542925"/>
            <a:chOff x="900" y="630"/>
            <a:chExt cx="17232" cy="855"/>
          </a:xfrm>
        </p:grpSpPr>
        <p:sp>
          <p:nvSpPr>
            <p:cNvPr id="3" name="Google Shape;112;p14"/>
            <p:cNvSpPr txBox="1"/>
            <p:nvPr/>
          </p:nvSpPr>
          <p:spPr>
            <a:xfrm>
              <a:off x="1125" y="630"/>
              <a:ext cx="17007" cy="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fr-FR" sz="285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Presentation de Zabbix</a:t>
              </a:r>
              <a:endParaRPr lang="en-US" altLang="fr-FR" sz="2850" b="1" i="0" u="none" strike="noStrike" cap="none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4" name="Google Shape;113;p14"/>
            <p:cNvSpPr/>
            <p:nvPr/>
          </p:nvSpPr>
          <p:spPr>
            <a:xfrm>
              <a:off x="900" y="630"/>
              <a:ext cx="90" cy="85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10" name="Zone de texte 9"/>
          <p:cNvSpPr txBox="1"/>
          <p:nvPr/>
        </p:nvSpPr>
        <p:spPr>
          <a:xfrm>
            <a:off x="1465580" y="1155065"/>
            <a:ext cx="775525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sz="2000" b="1" i="0">
                <a:solidFill>
                  <a:srgbClr val="25272F"/>
                </a:solidFill>
                <a:latin typeface="Century Gothic" panose="020B0502020202020204" pitchFamily="34" charset="0"/>
                <a:ea typeface="Inter"/>
                <a:cs typeface="Century Gothic" panose="020B0502020202020204" pitchFamily="34" charset="0"/>
              </a:rPr>
              <a:t>Zabbix </a:t>
            </a:r>
            <a:r>
              <a:rPr sz="2000" b="0" i="0">
                <a:solidFill>
                  <a:srgbClr val="25272F"/>
                </a:solidFill>
                <a:latin typeface="Century Gothic" panose="020B0502020202020204" pitchFamily="34" charset="0"/>
                <a:ea typeface="Inter"/>
                <a:cs typeface="Century Gothic" panose="020B0502020202020204" pitchFamily="34" charset="0"/>
              </a:rPr>
              <a:t>est une solution de supervision open source</a:t>
            </a:r>
            <a:r>
              <a:rPr lang="en-US" sz="2000" b="0" i="0">
                <a:solidFill>
                  <a:srgbClr val="25272F"/>
                </a:solidFill>
                <a:latin typeface="Century Gothic" panose="020B0502020202020204" pitchFamily="34" charset="0"/>
                <a:ea typeface="Inter"/>
                <a:cs typeface="Century Gothic" panose="020B0502020202020204" pitchFamily="34" charset="0"/>
              </a:rPr>
              <a:t>.</a:t>
            </a:r>
            <a:endParaRPr lang="en-US" sz="2000" b="0" i="0">
              <a:solidFill>
                <a:srgbClr val="25272F"/>
              </a:solidFill>
              <a:latin typeface="Century Gothic" panose="020B0502020202020204" pitchFamily="34" charset="0"/>
              <a:ea typeface="Inter"/>
              <a:cs typeface="Century Gothic" panose="020B0502020202020204" pitchFamily="34" charset="0"/>
            </a:endParaRPr>
          </a:p>
        </p:txBody>
      </p:sp>
      <p:grpSp>
        <p:nvGrpSpPr>
          <p:cNvPr id="39" name="Grouper 38"/>
          <p:cNvGrpSpPr/>
          <p:nvPr/>
        </p:nvGrpSpPr>
        <p:grpSpPr>
          <a:xfrm>
            <a:off x="556895" y="1944370"/>
            <a:ext cx="9896475" cy="2190115"/>
            <a:chOff x="1430" y="3399"/>
            <a:chExt cx="15585" cy="3449"/>
          </a:xfrm>
        </p:grpSpPr>
        <p:grpSp>
          <p:nvGrpSpPr>
            <p:cNvPr id="32" name="Grouper 31"/>
            <p:cNvGrpSpPr/>
            <p:nvPr/>
          </p:nvGrpSpPr>
          <p:grpSpPr>
            <a:xfrm>
              <a:off x="1430" y="3399"/>
              <a:ext cx="6721" cy="628"/>
              <a:chOff x="1430" y="3399"/>
              <a:chExt cx="6721" cy="628"/>
            </a:xfrm>
          </p:grpSpPr>
          <p:sp>
            <p:nvSpPr>
              <p:cNvPr id="30" name="Organigramme : Connecteur 29"/>
              <p:cNvSpPr/>
              <p:nvPr/>
            </p:nvSpPr>
            <p:spPr>
              <a:xfrm>
                <a:off x="1430" y="3553"/>
                <a:ext cx="321" cy="320"/>
              </a:xfrm>
              <a:prstGeom prst="flowChartConnector">
                <a:avLst/>
              </a:prstGeom>
              <a:solidFill>
                <a:srgbClr val="00B050"/>
              </a:solidFill>
              <a:ln>
                <a:solidFill>
                  <a:srgbClr val="00B050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fr-FR" altLang="en-US"/>
              </a:p>
            </p:txBody>
          </p:sp>
          <p:sp>
            <p:nvSpPr>
              <p:cNvPr id="31" name="Zone de texte 30"/>
              <p:cNvSpPr txBox="1"/>
              <p:nvPr/>
            </p:nvSpPr>
            <p:spPr>
              <a:xfrm>
                <a:off x="1751" y="3399"/>
                <a:ext cx="6400" cy="6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fr-FR" sz="2000" b="1">
                    <a:latin typeface="Century Gothic" panose="020B0502020202020204" pitchFamily="34" charset="0"/>
                    <a:cs typeface="Century Gothic" panose="020B0502020202020204" pitchFamily="34" charset="0"/>
                  </a:rPr>
                  <a:t>Fonctionnalit</a:t>
                </a:r>
                <a:r>
                  <a:rPr lang="en-US" altLang="en-US" sz="2000" b="1">
                    <a:solidFill>
                      <a:srgbClr val="0F2942"/>
                    </a:solidFill>
                    <a:latin typeface="Century Gothic" panose="020B0502020202020204" pitchFamily="34" charset="0"/>
                    <a:ea typeface="Poppins"/>
                    <a:cs typeface="Century Gothic" panose="020B0502020202020204" pitchFamily="34" charset="0"/>
                    <a:sym typeface="Poppins"/>
                  </a:rPr>
                  <a:t>é</a:t>
                </a:r>
                <a:r>
                  <a:rPr lang="en-US" altLang="fr-FR" sz="2000" b="1">
                    <a:latin typeface="Century Gothic" panose="020B0502020202020204" pitchFamily="34" charset="0"/>
                    <a:cs typeface="Century Gothic" panose="020B0502020202020204" pitchFamily="34" charset="0"/>
                  </a:rPr>
                  <a:t>s de Zabbix</a:t>
                </a:r>
                <a:endParaRPr lang="en-US" altLang="fr-FR" sz="2000" b="1">
                  <a:latin typeface="Century Gothic" panose="020B0502020202020204" pitchFamily="34" charset="0"/>
                  <a:cs typeface="Century Gothic" panose="020B0502020202020204" pitchFamily="34" charset="0"/>
                </a:endParaRPr>
              </a:p>
            </p:txBody>
          </p:sp>
        </p:grpSp>
        <p:sp>
          <p:nvSpPr>
            <p:cNvPr id="33" name="Rectangle : coins arrondis 8"/>
            <p:cNvSpPr/>
            <p:nvPr/>
          </p:nvSpPr>
          <p:spPr>
            <a:xfrm>
              <a:off x="1781" y="4507"/>
              <a:ext cx="4590" cy="8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Collecte de donn</a:t>
              </a:r>
              <a:r>
                <a:rPr lang="en-US" altLang="en-US" sz="2000" b="1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ées</a:t>
              </a:r>
              <a:endParaRPr lang="en-US" altLang="en-US" sz="2000" b="1" i="1" dirty="0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34" name="Rectangle : coins arrondis 8"/>
            <p:cNvSpPr/>
            <p:nvPr/>
          </p:nvSpPr>
          <p:spPr>
            <a:xfrm>
              <a:off x="7103" y="4507"/>
              <a:ext cx="4590" cy="8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D</a:t>
              </a:r>
              <a:r>
                <a:rPr lang="en-US" altLang="en-US" sz="2000" b="1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é</a:t>
              </a:r>
              <a:r>
                <a:rPr lang="en-US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finitions de seuils</a:t>
              </a:r>
              <a:endParaRPr lang="en-US" altLang="en-US" sz="2000" b="1" i="1" dirty="0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35" name="Rectangle : coins arrondis 8"/>
            <p:cNvSpPr/>
            <p:nvPr/>
          </p:nvSpPr>
          <p:spPr>
            <a:xfrm>
              <a:off x="12425" y="4507"/>
              <a:ext cx="4590" cy="893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Alerte configurable</a:t>
              </a:r>
              <a:endParaRPr lang="en-US" altLang="en-US" sz="2000" b="1" i="1" dirty="0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36" name="Rectangle : coins arrondis 8"/>
            <p:cNvSpPr/>
            <p:nvPr/>
          </p:nvSpPr>
          <p:spPr>
            <a:xfrm>
              <a:off x="1781" y="5880"/>
              <a:ext cx="4590" cy="96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G</a:t>
              </a:r>
              <a:r>
                <a:rPr lang="en-US" altLang="en-US" sz="2000" b="1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é</a:t>
              </a:r>
              <a:r>
                <a:rPr lang="en-US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n</a:t>
              </a:r>
              <a:r>
                <a:rPr lang="en-US" altLang="en-US" sz="2000" b="1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é</a:t>
              </a:r>
              <a:r>
                <a:rPr lang="en-US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ration de graphiques</a:t>
              </a:r>
              <a:endParaRPr lang="en-US" altLang="en-US" sz="2000" b="1" i="1" dirty="0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37" name="Rectangle : coins arrondis 8"/>
            <p:cNvSpPr/>
            <p:nvPr/>
          </p:nvSpPr>
          <p:spPr>
            <a:xfrm>
              <a:off x="7103" y="5880"/>
              <a:ext cx="4590" cy="9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Utilisation des mod</a:t>
              </a:r>
              <a:r>
                <a:rPr lang="en-US" altLang="en-US" sz="2000" b="1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éles</a:t>
              </a:r>
              <a:endParaRPr lang="en-US" altLang="en-US" sz="2000" b="1" i="1" dirty="0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38" name="Rectangle : coins arrondis 8"/>
            <p:cNvSpPr/>
            <p:nvPr/>
          </p:nvSpPr>
          <p:spPr>
            <a:xfrm>
              <a:off x="12425" y="5881"/>
              <a:ext cx="4590" cy="967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fr-FR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Syst</a:t>
              </a:r>
              <a:r>
                <a:rPr lang="en-US" altLang="en-US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è</a:t>
              </a:r>
              <a:r>
                <a:rPr lang="en-US" altLang="fr-FR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me de permissions</a:t>
              </a:r>
              <a:endParaRPr lang="en-US" altLang="fr-FR" sz="2000" b="1" i="1" dirty="0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</p:grpSp>
      <p:grpSp>
        <p:nvGrpSpPr>
          <p:cNvPr id="48" name="Grouper 47"/>
          <p:cNvGrpSpPr/>
          <p:nvPr/>
        </p:nvGrpSpPr>
        <p:grpSpPr>
          <a:xfrm>
            <a:off x="556895" y="4620260"/>
            <a:ext cx="11293475" cy="1452880"/>
            <a:chOff x="877" y="7276"/>
            <a:chExt cx="17785" cy="2288"/>
          </a:xfrm>
        </p:grpSpPr>
        <p:sp>
          <p:nvSpPr>
            <p:cNvPr id="41" name="Organigramme : Connecteur 40"/>
            <p:cNvSpPr/>
            <p:nvPr/>
          </p:nvSpPr>
          <p:spPr>
            <a:xfrm>
              <a:off x="877" y="7430"/>
              <a:ext cx="321" cy="320"/>
            </a:xfrm>
            <a:prstGeom prst="flowChartConnector">
              <a:avLst/>
            </a:prstGeom>
            <a:solidFill>
              <a:srgbClr val="00B050"/>
            </a:solidFill>
            <a:ln>
              <a:solidFill>
                <a:srgbClr val="00B050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fr-FR" altLang="en-US"/>
            </a:p>
          </p:txBody>
        </p:sp>
        <p:sp>
          <p:nvSpPr>
            <p:cNvPr id="42" name="Zone de texte 41"/>
            <p:cNvSpPr txBox="1"/>
            <p:nvPr/>
          </p:nvSpPr>
          <p:spPr>
            <a:xfrm>
              <a:off x="1398" y="7276"/>
              <a:ext cx="6400" cy="6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fr-FR" sz="2000" b="1">
                  <a:latin typeface="Century Gothic" panose="020B0502020202020204" pitchFamily="34" charset="0"/>
                  <a:cs typeface="Century Gothic" panose="020B0502020202020204" pitchFamily="34" charset="0"/>
                </a:rPr>
                <a:t>Les Composants Cl</a:t>
              </a:r>
              <a:r>
                <a:rPr lang="en-US" altLang="en-US" sz="2000" b="1">
                  <a:latin typeface="Century Gothic" panose="020B0502020202020204" pitchFamily="34" charset="0"/>
                  <a:cs typeface="Century Gothic" panose="020B0502020202020204" pitchFamily="34" charset="0"/>
                </a:rPr>
                <a:t>é</a:t>
              </a:r>
              <a:r>
                <a:rPr lang="en-US" altLang="fr-FR" sz="2000" b="1">
                  <a:latin typeface="Century Gothic" panose="020B0502020202020204" pitchFamily="34" charset="0"/>
                  <a:cs typeface="Century Gothic" panose="020B0502020202020204" pitchFamily="34" charset="0"/>
                </a:rPr>
                <a:t>s</a:t>
              </a:r>
              <a:endParaRPr lang="en-US" altLang="fr-FR" sz="2000" b="1">
                <a:latin typeface="Century Gothic" panose="020B0502020202020204" pitchFamily="34" charset="0"/>
                <a:cs typeface="Century Gothic" panose="020B0502020202020204" pitchFamily="34" charset="0"/>
              </a:endParaRPr>
            </a:p>
          </p:txBody>
        </p:sp>
        <p:grpSp>
          <p:nvGrpSpPr>
            <p:cNvPr id="47" name="Grouper 46"/>
            <p:cNvGrpSpPr/>
            <p:nvPr/>
          </p:nvGrpSpPr>
          <p:grpSpPr>
            <a:xfrm>
              <a:off x="1134" y="8670"/>
              <a:ext cx="17528" cy="894"/>
              <a:chOff x="1788" y="8363"/>
              <a:chExt cx="17528" cy="894"/>
            </a:xfrm>
          </p:grpSpPr>
          <p:sp>
            <p:nvSpPr>
              <p:cNvPr id="43" name="Rectangle : coins arrondis 8"/>
              <p:cNvSpPr/>
              <p:nvPr/>
            </p:nvSpPr>
            <p:spPr>
              <a:xfrm>
                <a:off x="1788" y="8364"/>
                <a:ext cx="3502" cy="89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406400" dist="38100" dir="5640000" algn="t" rotWithShape="0">
                  <a:schemeClr val="tx1">
                    <a:lumMod val="65000"/>
                    <a:lumOff val="35000"/>
                    <a:alpha val="2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fr-FR" sz="2000" b="1" i="1" dirty="0">
                    <a:solidFill>
                      <a:srgbClr val="0F2942"/>
                    </a:solidFill>
                    <a:latin typeface="Century Gothic" panose="020B0502020202020204" pitchFamily="34" charset="0"/>
                    <a:ea typeface="Poppins"/>
                    <a:cs typeface="Century Gothic" panose="020B0502020202020204" pitchFamily="34" charset="0"/>
                    <a:sym typeface="Poppins"/>
                  </a:rPr>
                  <a:t>Serveur Zabbix</a:t>
                </a:r>
                <a:endParaRPr lang="en-US" altLang="fr-FR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endParaRPr>
              </a:p>
            </p:txBody>
          </p:sp>
          <p:sp>
            <p:nvSpPr>
              <p:cNvPr id="44" name="Rectangle : coins arrondis 8"/>
              <p:cNvSpPr/>
              <p:nvPr/>
            </p:nvSpPr>
            <p:spPr>
              <a:xfrm>
                <a:off x="5818" y="8363"/>
                <a:ext cx="5389" cy="89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406400" dist="38100" dir="5640000" algn="t" rotWithShape="0">
                  <a:schemeClr val="tx1">
                    <a:lumMod val="65000"/>
                    <a:lumOff val="35000"/>
                    <a:alpha val="2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fr-FR" sz="2000" b="1" i="1" dirty="0">
                    <a:solidFill>
                      <a:srgbClr val="0F2942"/>
                    </a:solidFill>
                    <a:latin typeface="Century Gothic" panose="020B0502020202020204" pitchFamily="34" charset="0"/>
                    <a:ea typeface="Poppins"/>
                    <a:cs typeface="Century Gothic" panose="020B0502020202020204" pitchFamily="34" charset="0"/>
                    <a:sym typeface="Poppins"/>
                  </a:rPr>
                  <a:t>Stockage de donn</a:t>
                </a:r>
                <a:r>
                  <a:rPr lang="en-US" altLang="en-US" sz="2000" b="1" i="1" dirty="0">
                    <a:solidFill>
                      <a:srgbClr val="0F2942"/>
                    </a:solidFill>
                    <a:latin typeface="Century Gothic" panose="020B0502020202020204" pitchFamily="34" charset="0"/>
                    <a:ea typeface="Poppins"/>
                    <a:cs typeface="Century Gothic" panose="020B0502020202020204" pitchFamily="34" charset="0"/>
                    <a:sym typeface="Poppins"/>
                  </a:rPr>
                  <a:t>é</a:t>
                </a:r>
                <a:r>
                  <a:rPr lang="en-US" altLang="fr-FR" sz="2000" b="1" i="1" dirty="0">
                    <a:solidFill>
                      <a:srgbClr val="0F2942"/>
                    </a:solidFill>
                    <a:latin typeface="Century Gothic" panose="020B0502020202020204" pitchFamily="34" charset="0"/>
                    <a:ea typeface="Poppins"/>
                    <a:cs typeface="Century Gothic" panose="020B0502020202020204" pitchFamily="34" charset="0"/>
                    <a:sym typeface="Poppins"/>
                  </a:rPr>
                  <a:t>es</a:t>
                </a:r>
                <a:endParaRPr lang="en-US" altLang="fr-FR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endParaRPr>
              </a:p>
            </p:txBody>
          </p:sp>
          <p:sp>
            <p:nvSpPr>
              <p:cNvPr id="45" name="Rectangle : coins arrondis 8"/>
              <p:cNvSpPr/>
              <p:nvPr/>
            </p:nvSpPr>
            <p:spPr>
              <a:xfrm>
                <a:off x="12089" y="8364"/>
                <a:ext cx="3324" cy="89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406400" dist="38100" dir="5640000" algn="t" rotWithShape="0">
                  <a:schemeClr val="tx1">
                    <a:lumMod val="65000"/>
                    <a:lumOff val="35000"/>
                    <a:alpha val="2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fr-FR" sz="2000" b="1" i="1" dirty="0">
                    <a:solidFill>
                      <a:srgbClr val="0F2942"/>
                    </a:solidFill>
                    <a:latin typeface="Century Gothic" panose="020B0502020202020204" pitchFamily="34" charset="0"/>
                    <a:ea typeface="Poppins"/>
                    <a:cs typeface="Century Gothic" panose="020B0502020202020204" pitchFamily="34" charset="0"/>
                    <a:sym typeface="Poppins"/>
                  </a:rPr>
                  <a:t>Interface Web </a:t>
                </a:r>
                <a:endParaRPr lang="en-US" altLang="fr-FR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endParaRPr>
              </a:p>
            </p:txBody>
          </p:sp>
          <p:sp>
            <p:nvSpPr>
              <p:cNvPr id="46" name="Rectangle : coins arrondis 8"/>
              <p:cNvSpPr/>
              <p:nvPr/>
            </p:nvSpPr>
            <p:spPr>
              <a:xfrm>
                <a:off x="15814" y="8363"/>
                <a:ext cx="3502" cy="893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406400" dist="38100" dir="5640000" algn="t" rotWithShape="0">
                  <a:schemeClr val="tx1">
                    <a:lumMod val="65000"/>
                    <a:lumOff val="35000"/>
                    <a:alpha val="2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fr-FR" sz="2000" b="1" i="1" dirty="0">
                    <a:solidFill>
                      <a:srgbClr val="0F2942"/>
                    </a:solidFill>
                    <a:latin typeface="Century Gothic" panose="020B0502020202020204" pitchFamily="34" charset="0"/>
                    <a:ea typeface="Poppins"/>
                    <a:cs typeface="Century Gothic" panose="020B0502020202020204" pitchFamily="34" charset="0"/>
                    <a:sym typeface="Poppins"/>
                  </a:rPr>
                  <a:t>Agents Zabbix</a:t>
                </a:r>
                <a:endParaRPr lang="en-US" altLang="fr-FR" sz="20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endParaRPr>
              </a:p>
            </p:txBody>
          </p:sp>
        </p:grp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Grouper 6"/>
          <p:cNvGrpSpPr/>
          <p:nvPr/>
        </p:nvGrpSpPr>
        <p:grpSpPr>
          <a:xfrm>
            <a:off x="571500" y="221615"/>
            <a:ext cx="11594465" cy="542925"/>
            <a:chOff x="900" y="630"/>
            <a:chExt cx="18259" cy="855"/>
          </a:xfrm>
        </p:grpSpPr>
        <p:sp>
          <p:nvSpPr>
            <p:cNvPr id="112" name="Google Shape;112;p14"/>
            <p:cNvSpPr txBox="1"/>
            <p:nvPr/>
          </p:nvSpPr>
          <p:spPr>
            <a:xfrm>
              <a:off x="1125" y="630"/>
              <a:ext cx="18034" cy="69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fr-FR" sz="285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Concepts &amp; protocoles de supervision r</a:t>
              </a:r>
              <a:r>
                <a:rPr lang="en-US" altLang="en-US" sz="285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é</a:t>
              </a:r>
              <a:r>
                <a:rPr lang="en-US" altLang="fr-FR" sz="285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seau</a:t>
              </a:r>
              <a:endParaRPr lang="en-US" altLang="fr-FR" sz="2850" b="1" i="0" u="none" strike="noStrike" cap="none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900" y="630"/>
              <a:ext cx="90" cy="85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4" name="Zone de texte 3"/>
          <p:cNvSpPr txBox="1"/>
          <p:nvPr/>
        </p:nvSpPr>
        <p:spPr>
          <a:xfrm>
            <a:off x="4043045" y="1809750"/>
            <a:ext cx="2581275" cy="398780"/>
          </a:xfrm>
          <a:prstGeom prst="rect">
            <a:avLst/>
          </a:prstGeom>
        </p:spPr>
        <p:txBody>
          <a:bodyPr wrap="square">
            <a:spAutoFit/>
          </a:bodyPr>
          <a:p>
            <a:r>
              <a:rPr sz="2000" b="1"/>
              <a:t>Supervision réseau</a:t>
            </a:r>
            <a:endParaRPr sz="2000" b="1"/>
          </a:p>
        </p:txBody>
      </p:sp>
      <p:grpSp>
        <p:nvGrpSpPr>
          <p:cNvPr id="18" name="Grouper 17"/>
          <p:cNvGrpSpPr/>
          <p:nvPr/>
        </p:nvGrpSpPr>
        <p:grpSpPr>
          <a:xfrm>
            <a:off x="335915" y="3872230"/>
            <a:ext cx="3888105" cy="1393190"/>
            <a:chOff x="529" y="6092"/>
            <a:chExt cx="6123" cy="2194"/>
          </a:xfrm>
        </p:grpSpPr>
        <p:sp>
          <p:nvSpPr>
            <p:cNvPr id="8" name="Accolade fermante 7"/>
            <p:cNvSpPr/>
            <p:nvPr/>
          </p:nvSpPr>
          <p:spPr>
            <a:xfrm rot="5400000" flipH="1">
              <a:off x="3439" y="4322"/>
              <a:ext cx="480" cy="4019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grpSp>
          <p:nvGrpSpPr>
            <p:cNvPr id="5" name="Grouper 4"/>
            <p:cNvGrpSpPr/>
            <p:nvPr/>
          </p:nvGrpSpPr>
          <p:grpSpPr>
            <a:xfrm>
              <a:off x="529" y="7246"/>
              <a:ext cx="6123" cy="1040"/>
              <a:chOff x="734" y="5107"/>
              <a:chExt cx="6123" cy="1040"/>
            </a:xfrm>
          </p:grpSpPr>
          <p:sp>
            <p:nvSpPr>
              <p:cNvPr id="10" name="Rectangle : coins arrondis 8"/>
              <p:cNvSpPr/>
              <p:nvPr/>
            </p:nvSpPr>
            <p:spPr>
              <a:xfrm>
                <a:off x="734" y="5107"/>
                <a:ext cx="2196" cy="1010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406400" dist="38100" dir="5640000" algn="t" rotWithShape="0">
                  <a:schemeClr val="tx1">
                    <a:lumMod val="65000"/>
                    <a:lumOff val="35000"/>
                    <a:alpha val="2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i="1">
                    <a:solidFill>
                      <a:srgbClr val="0F2942"/>
                    </a:solidFill>
                    <a:latin typeface="Century Gothic" panose="020B0502020202020204" pitchFamily="34" charset="0"/>
                    <a:ea typeface="Lato"/>
                    <a:cs typeface="Century Gothic" panose="020B0502020202020204" pitchFamily="34" charset="0"/>
                    <a:sym typeface="Lato"/>
                  </a:rPr>
                  <a:t>SNMP Polling</a:t>
                </a:r>
                <a:endParaRPr lang="en-US" sz="16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endParaRPr>
              </a:p>
            </p:txBody>
          </p:sp>
          <p:sp>
            <p:nvSpPr>
              <p:cNvPr id="11" name="Rectangle : coins arrondis 8"/>
              <p:cNvSpPr/>
              <p:nvPr/>
            </p:nvSpPr>
            <p:spPr>
              <a:xfrm>
                <a:off x="4539" y="5131"/>
                <a:ext cx="2318" cy="1016"/>
              </a:xfrm>
              <a:prstGeom prst="round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  <a:effectLst>
                <a:outerShdw blurRad="406400" dist="38100" dir="5640000" algn="t" rotWithShape="0">
                  <a:schemeClr val="tx1">
                    <a:lumMod val="65000"/>
                    <a:lumOff val="35000"/>
                    <a:alpha val="22000"/>
                  </a:scheme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b="1" i="1">
                    <a:solidFill>
                      <a:srgbClr val="0F2942"/>
                    </a:solidFill>
                    <a:latin typeface="Century Gothic" panose="020B0502020202020204" pitchFamily="34" charset="0"/>
                    <a:ea typeface="Lato"/>
                    <a:cs typeface="Century Gothic" panose="020B0502020202020204" pitchFamily="34" charset="0"/>
                    <a:sym typeface="Lato"/>
                  </a:rPr>
                  <a:t>ICMP</a:t>
                </a:r>
                <a:endParaRPr lang="en-US" sz="1600" b="1" i="1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endParaRPr>
              </a:p>
              <a:p>
                <a:pPr algn="ctr"/>
                <a:r>
                  <a:rPr lang="en-US" sz="1600" b="1" i="1" dirty="0">
                    <a:solidFill>
                      <a:srgbClr val="0F2942"/>
                    </a:solidFill>
                    <a:latin typeface="Century Gothic" panose="020B0502020202020204" pitchFamily="34" charset="0"/>
                    <a:ea typeface="Lato"/>
                    <a:cs typeface="Century Gothic" panose="020B0502020202020204" pitchFamily="34" charset="0"/>
                    <a:sym typeface="Lato"/>
                  </a:rPr>
                  <a:t>(ping)</a:t>
                </a:r>
                <a:endParaRPr lang="en-US" sz="16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endParaRPr>
              </a:p>
            </p:txBody>
          </p:sp>
        </p:grpSp>
      </p:grpSp>
      <p:grpSp>
        <p:nvGrpSpPr>
          <p:cNvPr id="13" name="Grouper 12"/>
          <p:cNvGrpSpPr/>
          <p:nvPr/>
        </p:nvGrpSpPr>
        <p:grpSpPr>
          <a:xfrm>
            <a:off x="1060450" y="2434590"/>
            <a:ext cx="8861425" cy="1177290"/>
            <a:chOff x="1670" y="3834"/>
            <a:chExt cx="13955" cy="1854"/>
          </a:xfrm>
        </p:grpSpPr>
        <p:sp>
          <p:nvSpPr>
            <p:cNvPr id="14" name="Accolade fermante 13"/>
            <p:cNvSpPr/>
            <p:nvPr/>
          </p:nvSpPr>
          <p:spPr>
            <a:xfrm rot="5400000" flipH="1">
              <a:off x="8159" y="-346"/>
              <a:ext cx="480" cy="8841"/>
            </a:xfrm>
            <a:prstGeom prst="rightBrace">
              <a:avLst>
                <a:gd name="adj1" fmla="val 0"/>
                <a:gd name="adj2" fmla="val 50000"/>
              </a:avLst>
            </a:prstGeom>
            <a:noFill/>
            <a:ln>
              <a:solidFill>
                <a:srgbClr val="00B050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fr-FR" dirty="0"/>
            </a:p>
          </p:txBody>
        </p:sp>
        <p:sp>
          <p:nvSpPr>
            <p:cNvPr id="15" name="Rectangle : coins arrondis 8"/>
            <p:cNvSpPr/>
            <p:nvPr/>
          </p:nvSpPr>
          <p:spPr>
            <a:xfrm>
              <a:off x="1670" y="5110"/>
              <a:ext cx="4180" cy="5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fr-FR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La Supervision Active</a:t>
              </a:r>
              <a:endParaRPr lang="en-US" altLang="fr-FR" b="1" i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  <p:sp>
          <p:nvSpPr>
            <p:cNvPr id="16" name="Rectangle : coins arrondis 8"/>
            <p:cNvSpPr/>
            <p:nvPr/>
          </p:nvSpPr>
          <p:spPr>
            <a:xfrm>
              <a:off x="11115" y="5110"/>
              <a:ext cx="4511" cy="579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fr-FR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La Supervision Passive</a:t>
              </a:r>
              <a:endParaRPr lang="en-US" altLang="fr-FR" b="1" i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</p:grpSp>
      <p:sp>
        <p:nvSpPr>
          <p:cNvPr id="9" name="Accolade fermante 8"/>
          <p:cNvSpPr/>
          <p:nvPr/>
        </p:nvSpPr>
        <p:spPr>
          <a:xfrm rot="5400000" flipH="1">
            <a:off x="8339455" y="2751455"/>
            <a:ext cx="300990" cy="2534920"/>
          </a:xfrm>
          <a:prstGeom prst="rightBrace">
            <a:avLst>
              <a:gd name="adj1" fmla="val 0"/>
              <a:gd name="adj2" fmla="val 50000"/>
            </a:avLst>
          </a:prstGeom>
          <a:noFill/>
          <a:ln>
            <a:solidFill>
              <a:srgbClr val="00B05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grpSp>
        <p:nvGrpSpPr>
          <p:cNvPr id="6" name="Grouper 5"/>
          <p:cNvGrpSpPr/>
          <p:nvPr/>
        </p:nvGrpSpPr>
        <p:grpSpPr>
          <a:xfrm>
            <a:off x="6638290" y="4608830"/>
            <a:ext cx="3663950" cy="637540"/>
            <a:chOff x="10180" y="5128"/>
            <a:chExt cx="5770" cy="1004"/>
          </a:xfrm>
        </p:grpSpPr>
        <p:sp>
          <p:nvSpPr>
            <p:cNvPr id="17" name="Rectangle : coins arrondis 8"/>
            <p:cNvSpPr/>
            <p:nvPr/>
          </p:nvSpPr>
          <p:spPr>
            <a:xfrm>
              <a:off x="10180" y="5140"/>
              <a:ext cx="2366" cy="95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 dirty="0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SNMP Traps</a:t>
              </a:r>
              <a:endParaRPr lang="en-US" sz="1600" b="1" i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  <p:sp>
          <p:nvSpPr>
            <p:cNvPr id="2" name="Rectangle : coins arrondis 8"/>
            <p:cNvSpPr/>
            <p:nvPr/>
          </p:nvSpPr>
          <p:spPr>
            <a:xfrm>
              <a:off x="13985" y="5128"/>
              <a:ext cx="1965" cy="1004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>
              <a:outerShdw blurRad="406400" dist="38100" dir="5640000" algn="t" rotWithShape="0">
                <a:schemeClr val="tx1">
                  <a:lumMod val="65000"/>
                  <a:lumOff val="35000"/>
                  <a:alpha val="22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i="1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Alertes</a:t>
              </a:r>
              <a:endParaRPr lang="en-US" sz="1600" b="1" i="1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  <a:p>
              <a:pPr algn="ctr"/>
              <a:r>
                <a:rPr lang="en-US" sz="1600" b="1" i="1">
                  <a:solidFill>
                    <a:srgbClr val="0F2942"/>
                  </a:solidFill>
                  <a:latin typeface="Century Gothic" panose="020B0502020202020204" pitchFamily="34" charset="0"/>
                  <a:ea typeface="Lato"/>
                  <a:cs typeface="Century Gothic" panose="020B0502020202020204" pitchFamily="34" charset="0"/>
                  <a:sym typeface="Lato"/>
                </a:rPr>
                <a:t>Agent</a:t>
              </a:r>
              <a:endParaRPr lang="en-US" sz="1600" b="1" i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/>
        </p:nvSpPr>
        <p:spPr>
          <a:xfrm>
            <a:off x="827405" y="2766060"/>
            <a:ext cx="8801735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800" b="1" dirty="0">
                <a:solidFill>
                  <a:srgbClr val="275C8D"/>
                </a:solidFill>
                <a:sym typeface="+mn-ea"/>
              </a:rPr>
              <a:t>         </a:t>
            </a:r>
            <a:r>
              <a:rPr lang="en-US" sz="5800" b="1" dirty="0">
                <a:solidFill>
                  <a:srgbClr val="275C8D"/>
                </a:solidFill>
                <a:sym typeface="+mn-ea"/>
              </a:rPr>
              <a:t>Architecture </a:t>
            </a:r>
            <a:r>
              <a:rPr lang="en-US" altLang="fr-FR" sz="5800" b="1" dirty="0">
                <a:solidFill>
                  <a:srgbClr val="275C8D"/>
                </a:solidFill>
                <a:sym typeface="+mn-ea"/>
              </a:rPr>
              <a:t> </a:t>
            </a:r>
            <a:r>
              <a:rPr lang="fr-FR" sz="5800" b="1" dirty="0">
                <a:solidFill>
                  <a:srgbClr val="275C8D"/>
                </a:solidFill>
                <a:latin typeface="Century Gothic" panose="020B0502020202020204" pitchFamily="34" charset="0"/>
                <a:sym typeface="+mn-ea"/>
              </a:rPr>
              <a:t>&amp;</a:t>
            </a:r>
            <a:r>
              <a:rPr lang="en-US" altLang="fr-FR" sz="5800" b="1" dirty="0">
                <a:solidFill>
                  <a:srgbClr val="275C8D"/>
                </a:solidFill>
                <a:latin typeface="Century Gothic" panose="020B0502020202020204" pitchFamily="34" charset="0"/>
                <a:sym typeface="+mn-ea"/>
              </a:rPr>
              <a:t> conception</a:t>
            </a:r>
            <a:r>
              <a:rPr lang="en-US" sz="5800" b="1" dirty="0">
                <a:solidFill>
                  <a:srgbClr val="275C8D"/>
                </a:solidFill>
                <a:sym typeface="+mn-ea"/>
              </a:rPr>
              <a:t> </a:t>
            </a:r>
            <a:endParaRPr lang="en-US" sz="5800" b="1" dirty="0">
              <a:solidFill>
                <a:srgbClr val="275C8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A047-6DF3-4C8C-9C12-C17027B947F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Grouper 6"/>
          <p:cNvGrpSpPr/>
          <p:nvPr/>
        </p:nvGrpSpPr>
        <p:grpSpPr>
          <a:xfrm>
            <a:off x="1275080" y="286385"/>
            <a:ext cx="10177145" cy="585470"/>
            <a:chOff x="900" y="630"/>
            <a:chExt cx="16027" cy="855"/>
          </a:xfrm>
        </p:grpSpPr>
        <p:sp>
          <p:nvSpPr>
            <p:cNvPr id="112" name="Google Shape;112;p14"/>
            <p:cNvSpPr txBox="1"/>
            <p:nvPr/>
          </p:nvSpPr>
          <p:spPr>
            <a:xfrm>
              <a:off x="1125" y="630"/>
              <a:ext cx="15802" cy="6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fr-FR" sz="285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Architecture Zabbix d</a:t>
              </a:r>
              <a:r>
                <a:rPr lang="en-US" altLang="en-US" sz="285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é</a:t>
              </a:r>
              <a:r>
                <a:rPr lang="en-US" altLang="fr-FR" sz="285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ploy</a:t>
              </a:r>
              <a:r>
                <a:rPr lang="en-US" altLang="en-US" sz="285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é</a:t>
              </a:r>
              <a:r>
                <a:rPr lang="en-US" altLang="fr-FR" sz="285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e</a:t>
              </a:r>
              <a:endParaRPr lang="en-US" altLang="fr-FR" sz="2850" b="1" i="0" u="none" strike="noStrike" cap="none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900" y="630"/>
              <a:ext cx="90" cy="85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pic>
        <p:nvPicPr>
          <p:cNvPr id="2" name="Image 1" descr="Architecture Zabbix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220" y="989965"/>
            <a:ext cx="11396980" cy="5740400"/>
          </a:xfrm>
          <a:prstGeom prst="roundRect">
            <a:avLst>
              <a:gd name="adj" fmla="val 6980"/>
            </a:avLst>
          </a:prstGeom>
        </p:spPr>
      </p:pic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/>
        </p:nvSpPr>
        <p:spPr>
          <a:xfrm>
            <a:off x="2562478" y="2766218"/>
            <a:ext cx="7067043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800" b="1" dirty="0">
                <a:solidFill>
                  <a:srgbClr val="275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Outils &amp; technologies</a:t>
            </a:r>
            <a:endParaRPr lang="en-US" sz="5800" b="1" dirty="0">
              <a:solidFill>
                <a:srgbClr val="275C8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A047-6DF3-4C8C-9C12-C17027B947F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30" name="Grouper 29"/>
          <p:cNvGrpSpPr/>
          <p:nvPr/>
        </p:nvGrpSpPr>
        <p:grpSpPr>
          <a:xfrm>
            <a:off x="239395" y="4192905"/>
            <a:ext cx="9647555" cy="852805"/>
            <a:chOff x="255" y="5739"/>
            <a:chExt cx="15193" cy="1343"/>
          </a:xfrm>
        </p:grpSpPr>
        <p:pic>
          <p:nvPicPr>
            <p:cNvPr id="24" name="Graphique 23"/>
            <p:cNvPicPr>
              <a:picLocks noChangeAspect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3080" y="5739"/>
              <a:ext cx="2368" cy="1222"/>
            </a:xfrm>
            <a:prstGeom prst="rect">
              <a:avLst/>
            </a:prstGeom>
          </p:spPr>
        </p:pic>
        <p:sp>
          <p:nvSpPr>
            <p:cNvPr id="55" name="ZoneTexte 54"/>
            <p:cNvSpPr txBox="1"/>
            <p:nvPr/>
          </p:nvSpPr>
          <p:spPr>
            <a:xfrm>
              <a:off x="255" y="6500"/>
              <a:ext cx="4599" cy="5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fr-F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Stockage des données</a:t>
              </a:r>
              <a:endParaRPr lang="en-US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68" name="Connecteur droit 67"/>
            <p:cNvCxnSpPr/>
            <p:nvPr/>
          </p:nvCxnSpPr>
          <p:spPr>
            <a:xfrm>
              <a:off x="4915" y="6782"/>
              <a:ext cx="7804" cy="33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A047-6DF3-4C8C-9C12-C17027B947F2}" type="slidenum">
              <a:rPr lang="en-US" smtClean="0"/>
            </a:fld>
            <a:endParaRPr lang="en-US"/>
          </a:p>
        </p:txBody>
      </p:sp>
      <p:grpSp>
        <p:nvGrpSpPr>
          <p:cNvPr id="29" name="Grouper 28"/>
          <p:cNvGrpSpPr/>
          <p:nvPr/>
        </p:nvGrpSpPr>
        <p:grpSpPr>
          <a:xfrm>
            <a:off x="239395" y="5672455"/>
            <a:ext cx="8846820" cy="813435"/>
            <a:chOff x="244" y="8226"/>
            <a:chExt cx="13932" cy="1281"/>
          </a:xfrm>
        </p:grpSpPr>
        <p:sp>
          <p:nvSpPr>
            <p:cNvPr id="58" name="ZoneTexte 57"/>
            <p:cNvSpPr txBox="1"/>
            <p:nvPr/>
          </p:nvSpPr>
          <p:spPr>
            <a:xfrm>
              <a:off x="244" y="8572"/>
              <a:ext cx="2848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fr-F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Environement</a:t>
              </a:r>
              <a:endParaRPr lang="en-US" alt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70" name="Connecteur droit 69"/>
            <p:cNvCxnSpPr/>
            <p:nvPr/>
          </p:nvCxnSpPr>
          <p:spPr>
            <a:xfrm flipV="1">
              <a:off x="2976" y="8863"/>
              <a:ext cx="2639" cy="1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Connecteur droit 74"/>
            <p:cNvCxnSpPr/>
            <p:nvPr/>
          </p:nvCxnSpPr>
          <p:spPr>
            <a:xfrm>
              <a:off x="7596" y="8837"/>
              <a:ext cx="3742" cy="26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6" name="Image 5"/>
            <p:cNvPicPr/>
            <p:nvPr/>
          </p:nvPicPr>
          <p:blipFill>
            <a:blip r:embed="rId3"/>
            <a:stretch>
              <a:fillRect/>
            </a:stretch>
          </p:blipFill>
          <p:spPr>
            <a:xfrm>
              <a:off x="5783" y="8226"/>
              <a:ext cx="1173" cy="1060"/>
            </a:xfrm>
            <a:prstGeom prst="rect">
              <a:avLst/>
            </a:prstGeom>
          </p:spPr>
        </p:pic>
        <p:pic>
          <p:nvPicPr>
            <p:cNvPr id="8" name="Image 7"/>
            <p:cNvPicPr/>
            <p:nvPr/>
          </p:nvPicPr>
          <p:blipFill>
            <a:blip r:embed="rId4"/>
            <a:stretch>
              <a:fillRect/>
            </a:stretch>
          </p:blipFill>
          <p:spPr>
            <a:xfrm>
              <a:off x="11978" y="8426"/>
              <a:ext cx="2198" cy="1081"/>
            </a:xfrm>
            <a:prstGeom prst="rect">
              <a:avLst/>
            </a:prstGeom>
          </p:spPr>
        </p:pic>
      </p:grpSp>
      <p:grpSp>
        <p:nvGrpSpPr>
          <p:cNvPr id="25" name="Grouper 24"/>
          <p:cNvGrpSpPr/>
          <p:nvPr/>
        </p:nvGrpSpPr>
        <p:grpSpPr>
          <a:xfrm>
            <a:off x="471805" y="2926080"/>
            <a:ext cx="7533974" cy="1005840"/>
            <a:chOff x="377" y="3879"/>
            <a:chExt cx="12244" cy="1584"/>
          </a:xfrm>
        </p:grpSpPr>
        <p:sp>
          <p:nvSpPr>
            <p:cNvPr id="56" name="ZoneTexte 55"/>
            <p:cNvSpPr txBox="1"/>
            <p:nvPr/>
          </p:nvSpPr>
          <p:spPr>
            <a:xfrm>
              <a:off x="377" y="4129"/>
              <a:ext cx="239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fr-F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rPr>
                <a:t>Distribution </a:t>
              </a:r>
              <a:endParaRPr lang="en-US" altLang="fr-FR" b="1" dirty="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anose="020B0502020202020204" pitchFamily="34" charset="0"/>
              </a:endParaRPr>
            </a:p>
          </p:txBody>
        </p:sp>
        <p:cxnSp>
          <p:nvCxnSpPr>
            <p:cNvPr id="9" name="Connecteur droit 8"/>
            <p:cNvCxnSpPr/>
            <p:nvPr/>
          </p:nvCxnSpPr>
          <p:spPr>
            <a:xfrm flipV="1">
              <a:off x="2884" y="4494"/>
              <a:ext cx="2639" cy="1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0" name="Image 9"/>
            <p:cNvPicPr/>
            <p:nvPr/>
          </p:nvPicPr>
          <p:blipFill>
            <a:blip r:embed="rId5"/>
            <a:stretch>
              <a:fillRect/>
            </a:stretch>
          </p:blipFill>
          <p:spPr>
            <a:xfrm>
              <a:off x="5923" y="3976"/>
              <a:ext cx="1673" cy="917"/>
            </a:xfrm>
            <a:prstGeom prst="roundRect">
              <a:avLst/>
            </a:prstGeom>
          </p:spPr>
        </p:pic>
        <p:cxnSp>
          <p:nvCxnSpPr>
            <p:cNvPr id="12" name="Connecteur droit 11"/>
            <p:cNvCxnSpPr/>
            <p:nvPr/>
          </p:nvCxnSpPr>
          <p:spPr>
            <a:xfrm flipV="1">
              <a:off x="7995" y="4475"/>
              <a:ext cx="2639" cy="19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4" name="Image 13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10749" y="3879"/>
              <a:ext cx="1872" cy="1584"/>
            </a:xfrm>
            <a:prstGeom prst="rect">
              <a:avLst/>
            </a:prstGeom>
          </p:spPr>
        </p:pic>
      </p:grpSp>
      <p:grpSp>
        <p:nvGrpSpPr>
          <p:cNvPr id="34" name="Grouper 33"/>
          <p:cNvGrpSpPr/>
          <p:nvPr/>
        </p:nvGrpSpPr>
        <p:grpSpPr>
          <a:xfrm>
            <a:off x="310515" y="1485265"/>
            <a:ext cx="11266170" cy="842010"/>
            <a:chOff x="489" y="2339"/>
            <a:chExt cx="17742" cy="1326"/>
          </a:xfrm>
        </p:grpSpPr>
        <p:grpSp>
          <p:nvGrpSpPr>
            <p:cNvPr id="31" name="Grouper 30"/>
            <p:cNvGrpSpPr/>
            <p:nvPr/>
          </p:nvGrpSpPr>
          <p:grpSpPr>
            <a:xfrm>
              <a:off x="489" y="2339"/>
              <a:ext cx="13570" cy="1326"/>
              <a:chOff x="489" y="2049"/>
              <a:chExt cx="13570" cy="1326"/>
            </a:xfrm>
          </p:grpSpPr>
          <p:sp>
            <p:nvSpPr>
              <p:cNvPr id="17" name="ZoneTexte 55"/>
              <p:cNvSpPr txBox="1"/>
              <p:nvPr/>
            </p:nvSpPr>
            <p:spPr>
              <a:xfrm>
                <a:off x="489" y="2795"/>
                <a:ext cx="4365" cy="5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fr-F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entury Gothic" panose="020B0502020202020204" pitchFamily="34" charset="0"/>
                  </a:rPr>
                  <a:t>Syst</a:t>
                </a:r>
                <a:r>
                  <a:rPr lang="fr-F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entury Gothic" panose="020B0502020202020204" pitchFamily="34" charset="0"/>
                    <a:sym typeface="+mn-ea"/>
                  </a:rPr>
                  <a:t>é</a:t>
                </a:r>
                <a:r>
                  <a:rPr lang="en-US" altLang="fr-FR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Century Gothic" panose="020B0502020202020204" pitchFamily="34" charset="0"/>
                  </a:rPr>
                  <a:t>me d’exploitation</a:t>
                </a:r>
                <a:endParaRPr lang="en-US" altLang="fr-FR" b="1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Century Gothic" panose="020B0502020202020204" pitchFamily="34" charset="0"/>
                </a:endParaRPr>
              </a:p>
            </p:txBody>
          </p:sp>
          <p:cxnSp>
            <p:nvCxnSpPr>
              <p:cNvPr id="19" name="Connecteur droit 18"/>
              <p:cNvCxnSpPr/>
              <p:nvPr/>
            </p:nvCxnSpPr>
            <p:spPr>
              <a:xfrm flipV="1">
                <a:off x="5050" y="3059"/>
                <a:ext cx="1749" cy="35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1" name="Image 20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052" y="2049"/>
                <a:ext cx="1515" cy="1326"/>
              </a:xfrm>
              <a:prstGeom prst="roundRect">
                <a:avLst/>
              </a:prstGeom>
            </p:spPr>
          </p:pic>
          <p:cxnSp>
            <p:nvCxnSpPr>
              <p:cNvPr id="23" name="Connecteur droit 22"/>
              <p:cNvCxnSpPr/>
              <p:nvPr/>
            </p:nvCxnSpPr>
            <p:spPr>
              <a:xfrm flipV="1">
                <a:off x="8986" y="3042"/>
                <a:ext cx="1746" cy="10"/>
              </a:xfrm>
              <a:prstGeom prst="line">
                <a:avLst/>
              </a:prstGeom>
              <a:ln>
                <a:solidFill>
                  <a:srgbClr val="00B0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7" name="Image 26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1151" y="2474"/>
                <a:ext cx="2908" cy="901"/>
              </a:xfrm>
              <a:prstGeom prst="rect">
                <a:avLst/>
              </a:prstGeom>
            </p:spPr>
          </p:pic>
        </p:grpSp>
        <p:cxnSp>
          <p:nvCxnSpPr>
            <p:cNvPr id="32" name="Connecteur droit 31"/>
            <p:cNvCxnSpPr/>
            <p:nvPr/>
          </p:nvCxnSpPr>
          <p:spPr>
            <a:xfrm>
              <a:off x="14314" y="3349"/>
              <a:ext cx="1447" cy="0"/>
            </a:xfrm>
            <a:prstGeom prst="line">
              <a:avLst/>
            </a:prstGeom>
            <a:ln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3" name="Image 32"/>
            <p:cNvPicPr/>
            <p:nvPr/>
          </p:nvPicPr>
          <p:blipFill>
            <a:blip r:embed="rId9"/>
            <a:stretch>
              <a:fillRect/>
            </a:stretch>
          </p:blipFill>
          <p:spPr>
            <a:xfrm>
              <a:off x="16015" y="2586"/>
              <a:ext cx="2217" cy="1079"/>
            </a:xfrm>
            <a:prstGeom prst="rect">
              <a:avLst/>
            </a:prstGeom>
          </p:spPr>
        </p:pic>
      </p:grpSp>
      <p:pic>
        <p:nvPicPr>
          <p:cNvPr id="2" name="Image 1"/>
          <p:cNvPicPr/>
          <p:nvPr/>
        </p:nvPicPr>
        <p:blipFill>
          <a:blip r:embed="rId10"/>
          <a:stretch>
            <a:fillRect/>
          </a:stretch>
        </p:blipFill>
        <p:spPr>
          <a:xfrm>
            <a:off x="9321800" y="2926080"/>
            <a:ext cx="1811655" cy="1075055"/>
          </a:xfrm>
          <a:prstGeom prst="rect">
            <a:avLst/>
          </a:prstGeom>
        </p:spPr>
      </p:pic>
      <p:cxnSp>
        <p:nvCxnSpPr>
          <p:cNvPr id="3" name="Connecteur droit 2"/>
          <p:cNvCxnSpPr/>
          <p:nvPr/>
        </p:nvCxnSpPr>
        <p:spPr>
          <a:xfrm flipV="1">
            <a:off x="8153970" y="3416300"/>
            <a:ext cx="1078865" cy="6985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Titre 1"/>
          <p:cNvSpPr>
            <a:spLocks noGrp="1"/>
          </p:cNvSpPr>
          <p:nvPr/>
        </p:nvSpPr>
        <p:spPr>
          <a:xfrm>
            <a:off x="2451735" y="2437765"/>
            <a:ext cx="7066915" cy="10826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 sz="5800" b="1" dirty="0">
                <a:solidFill>
                  <a:srgbClr val="275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Réalisation</a:t>
            </a:r>
            <a:endParaRPr lang="en-US" sz="5800" b="1" dirty="0">
              <a:solidFill>
                <a:srgbClr val="275C8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A047-6DF3-4C8C-9C12-C17027B947F2}" type="slidenum">
              <a:rPr lang="en-US" smtClean="0"/>
            </a:fld>
            <a:endParaRPr lang="en-US" dirty="0"/>
          </a:p>
        </p:txBody>
      </p:sp>
      <p:sp>
        <p:nvSpPr>
          <p:cNvPr id="3" name="Zone de texte 2"/>
          <p:cNvSpPr txBox="1"/>
          <p:nvPr/>
        </p:nvSpPr>
        <p:spPr>
          <a:xfrm>
            <a:off x="3953510" y="3520440"/>
            <a:ext cx="4064000" cy="3683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en-US" altLang="fr-FR" b="1">
                <a:solidFill>
                  <a:srgbClr val="0070C0"/>
                </a:solidFill>
                <a:latin typeface="Century Gothic" panose="020B0502020202020204" pitchFamily="34" charset="0"/>
                <a:cs typeface="Century Gothic" panose="020B0502020202020204" pitchFamily="34" charset="0"/>
              </a:rPr>
              <a:t>(Live)</a:t>
            </a:r>
            <a:endParaRPr lang="en-US" altLang="fr-FR" b="1">
              <a:solidFill>
                <a:srgbClr val="0070C0"/>
              </a:solidFill>
              <a:latin typeface="Century Gothic" panose="020B0502020202020204" pitchFamily="34" charset="0"/>
              <a:cs typeface="Century Gothic" panose="020B0502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Titre 1"/>
          <p:cNvSpPr>
            <a:spLocks noGrp="1"/>
          </p:cNvSpPr>
          <p:nvPr/>
        </p:nvSpPr>
        <p:spPr>
          <a:xfrm>
            <a:off x="1525175" y="2766218"/>
            <a:ext cx="914164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5800" b="1" dirty="0">
                <a:solidFill>
                  <a:srgbClr val="275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Conclusion &amp; perspectives</a:t>
            </a:r>
            <a:endParaRPr lang="en-US" sz="5800" b="1" dirty="0">
              <a:solidFill>
                <a:srgbClr val="275C8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A047-6DF3-4C8C-9C12-C17027B947F2}" type="slidenum">
              <a:rPr lang="en-US" smtClean="0"/>
            </a:fld>
            <a:endParaRPr lang="en-US"/>
          </a:p>
        </p:txBody>
      </p:sp>
    </p:spTree>
    <p:custDataLst>
      <p:tags r:id="rId1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7" name="Grouper 6"/>
          <p:cNvGrpSpPr/>
          <p:nvPr/>
        </p:nvGrpSpPr>
        <p:grpSpPr>
          <a:xfrm>
            <a:off x="908050" y="326390"/>
            <a:ext cx="10942320" cy="553720"/>
            <a:chOff x="900" y="630"/>
            <a:chExt cx="17232" cy="872"/>
          </a:xfrm>
        </p:grpSpPr>
        <p:sp>
          <p:nvSpPr>
            <p:cNvPr id="112" name="Google Shape;112;p14"/>
            <p:cNvSpPr txBox="1"/>
            <p:nvPr/>
          </p:nvSpPr>
          <p:spPr>
            <a:xfrm>
              <a:off x="1125" y="630"/>
              <a:ext cx="17007" cy="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altLang="fr-FR" sz="360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Perspectives d’</a:t>
              </a:r>
              <a:r>
                <a:rPr lang="en-US" altLang="en-US" sz="360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é</a:t>
              </a:r>
              <a:r>
                <a:rPr lang="en-US" altLang="fr-FR" sz="3600" b="1" i="0" u="none" strike="noStrike" cap="none">
                  <a:solidFill>
                    <a:srgbClr val="0F2942"/>
                  </a:solidFill>
                  <a:latin typeface="Century Gothic" panose="020B0502020202020204" pitchFamily="34" charset="0"/>
                  <a:ea typeface="Poppins"/>
                  <a:cs typeface="Century Gothic" panose="020B0502020202020204" pitchFamily="34" charset="0"/>
                  <a:sym typeface="Poppins"/>
                </a:rPr>
                <a:t>volution</a:t>
              </a:r>
              <a:endParaRPr lang="en-US" altLang="fr-FR" sz="3600" b="1" i="0" u="none" strike="noStrike" cap="none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113" name="Google Shape;113;p14"/>
            <p:cNvSpPr/>
            <p:nvPr/>
          </p:nvSpPr>
          <p:spPr>
            <a:xfrm>
              <a:off x="900" y="630"/>
              <a:ext cx="90" cy="85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  <p:sp>
        <p:nvSpPr>
          <p:cNvPr id="27" name="Rectangle : coins arrondis 8"/>
          <p:cNvSpPr/>
          <p:nvPr/>
        </p:nvSpPr>
        <p:spPr>
          <a:xfrm>
            <a:off x="1412875" y="1731010"/>
            <a:ext cx="3149600" cy="95059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406400" dist="38100" dir="5640000" algn="t" rotWithShape="0">
              <a:schemeClr val="tx1">
                <a:lumMod val="65000"/>
                <a:lumOff val="35000"/>
                <a:alpha val="2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fr-FR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rPr>
              <a:t>extension aux agences distantes</a:t>
            </a:r>
            <a:endParaRPr lang="en-US" altLang="fr-FR" b="1" dirty="0">
              <a:solidFill>
                <a:srgbClr val="0F2942"/>
              </a:solidFill>
              <a:latin typeface="Century Gothic" panose="020B0502020202020204" pitchFamily="34" charset="0"/>
              <a:ea typeface="Lato"/>
              <a:cs typeface="Century Gothic" panose="020B0502020202020204" pitchFamily="34" charset="0"/>
              <a:sym typeface="Lato"/>
            </a:endParaRPr>
          </a:p>
        </p:txBody>
      </p:sp>
      <p:sp>
        <p:nvSpPr>
          <p:cNvPr id="4" name="Rectangle : coins arrondis 8"/>
          <p:cNvSpPr/>
          <p:nvPr/>
        </p:nvSpPr>
        <p:spPr>
          <a:xfrm>
            <a:off x="1412875" y="3070225"/>
            <a:ext cx="3149600" cy="95059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406400" dist="38100" dir="5640000" algn="t" rotWithShape="0">
              <a:schemeClr val="tx1">
                <a:lumMod val="65000"/>
                <a:lumOff val="35000"/>
                <a:alpha val="2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fr-FR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rPr>
              <a:t>Int</a:t>
            </a:r>
            <a:r>
              <a:rPr lang="fr-FR" altLang="en-US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rPr>
              <a:t>é</a:t>
            </a:r>
            <a:r>
              <a:rPr lang="en-US" altLang="fr-FR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rPr>
              <a:t>gration d’un IDS</a:t>
            </a:r>
            <a:endParaRPr lang="en-US" altLang="fr-FR" b="1" dirty="0">
              <a:solidFill>
                <a:srgbClr val="0F2942"/>
              </a:solidFill>
              <a:latin typeface="Century Gothic" panose="020B0502020202020204" pitchFamily="34" charset="0"/>
              <a:ea typeface="Lato"/>
              <a:cs typeface="Century Gothic" panose="020B0502020202020204" pitchFamily="34" charset="0"/>
              <a:sym typeface="Lato"/>
            </a:endParaRPr>
          </a:p>
        </p:txBody>
      </p:sp>
      <p:sp>
        <p:nvSpPr>
          <p:cNvPr id="5" name="Rectangle : coins arrondis 8"/>
          <p:cNvSpPr/>
          <p:nvPr/>
        </p:nvSpPr>
        <p:spPr>
          <a:xfrm>
            <a:off x="6961505" y="1731010"/>
            <a:ext cx="3149600" cy="95059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406400" dist="38100" dir="5640000" algn="t" rotWithShape="0">
              <a:schemeClr val="tx1">
                <a:lumMod val="65000"/>
                <a:lumOff val="35000"/>
                <a:alpha val="2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fr-FR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rPr>
              <a:t>Actions correctives </a:t>
            </a:r>
            <a:endParaRPr lang="en-US" altLang="fr-FR" b="1" dirty="0">
              <a:solidFill>
                <a:srgbClr val="0F2942"/>
              </a:solidFill>
              <a:latin typeface="Century Gothic" panose="020B0502020202020204" pitchFamily="34" charset="0"/>
              <a:ea typeface="Lato"/>
              <a:cs typeface="Century Gothic" panose="020B0502020202020204" pitchFamily="34" charset="0"/>
              <a:sym typeface="Lato"/>
            </a:endParaRPr>
          </a:p>
        </p:txBody>
      </p:sp>
      <p:sp>
        <p:nvSpPr>
          <p:cNvPr id="6" name="Rectangle : coins arrondis 8"/>
          <p:cNvSpPr/>
          <p:nvPr/>
        </p:nvSpPr>
        <p:spPr>
          <a:xfrm>
            <a:off x="6961505" y="3070225"/>
            <a:ext cx="3149600" cy="950595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  <a:effectLst>
            <a:outerShdw blurRad="406400" dist="38100" dir="5640000" algn="t" rotWithShape="0">
              <a:schemeClr val="tx1">
                <a:lumMod val="65000"/>
                <a:lumOff val="35000"/>
                <a:alpha val="22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fr-FR" b="1" dirty="0">
                <a:solidFill>
                  <a:srgbClr val="0F2942"/>
                </a:solidFill>
                <a:latin typeface="Century Gothic" panose="020B0502020202020204" pitchFamily="34" charset="0"/>
                <a:ea typeface="Lato"/>
                <a:cs typeface="Century Gothic" panose="020B0502020202020204" pitchFamily="34" charset="0"/>
                <a:sym typeface="Lato"/>
              </a:rPr>
              <a:t>Mettre en place d’un serveur backup</a:t>
            </a:r>
            <a:endParaRPr lang="en-US" altLang="fr-FR" b="1" dirty="0">
              <a:solidFill>
                <a:srgbClr val="0F2942"/>
              </a:solidFill>
              <a:latin typeface="Century Gothic" panose="020B0502020202020204" pitchFamily="34" charset="0"/>
              <a:ea typeface="Lato"/>
              <a:cs typeface="Century Gothic" panose="020B0502020202020204" pitchFamily="34" charset="0"/>
              <a:sym typeface="Lato"/>
            </a:endParaRPr>
          </a:p>
        </p:txBody>
      </p:sp>
      <p:grpSp>
        <p:nvGrpSpPr>
          <p:cNvPr id="8" name="Grouper 7"/>
          <p:cNvGrpSpPr/>
          <p:nvPr/>
        </p:nvGrpSpPr>
        <p:grpSpPr>
          <a:xfrm>
            <a:off x="908050" y="5285105"/>
            <a:ext cx="4844168" cy="553720"/>
            <a:chOff x="900" y="613"/>
            <a:chExt cx="8967" cy="872"/>
          </a:xfrm>
        </p:grpSpPr>
        <p:sp>
          <p:nvSpPr>
            <p:cNvPr id="9" name="Google Shape;112;p14"/>
            <p:cNvSpPr txBox="1"/>
            <p:nvPr/>
          </p:nvSpPr>
          <p:spPr>
            <a:xfrm>
              <a:off x="1484" y="613"/>
              <a:ext cx="8383" cy="87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fr-FR" sz="3600" b="1" dirty="0">
                  <a:solidFill>
                    <a:srgbClr val="275C8D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entury Gothic" panose="020B0502020202020204" pitchFamily="34" charset="0"/>
                  <a:sym typeface="+mn-ea"/>
                </a:rPr>
                <a:t>Conclusion</a:t>
              </a:r>
              <a:endParaRPr lang="en-US" altLang="fr-FR" sz="3600" b="1" i="0" u="none" strike="noStrike" cap="none">
                <a:solidFill>
                  <a:srgbClr val="0F2942"/>
                </a:solidFill>
                <a:latin typeface="Century Gothic" panose="020B0502020202020204" pitchFamily="34" charset="0"/>
                <a:ea typeface="Poppins"/>
                <a:cs typeface="Century Gothic" panose="020B0502020202020204" pitchFamily="34" charset="0"/>
                <a:sym typeface="Poppins"/>
              </a:endParaRPr>
            </a:p>
          </p:txBody>
        </p:sp>
        <p:sp>
          <p:nvSpPr>
            <p:cNvPr id="10" name="Google Shape;113;p14"/>
            <p:cNvSpPr/>
            <p:nvPr/>
          </p:nvSpPr>
          <p:spPr>
            <a:xfrm>
              <a:off x="900" y="630"/>
              <a:ext cx="90" cy="855"/>
            </a:xfrm>
            <a:prstGeom prst="rect">
              <a:avLst/>
            </a:prstGeom>
            <a:solidFill>
              <a:srgbClr val="10B98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endParaRPr>
            </a:p>
          </p:txBody>
        </p:sp>
      </p:grpSp>
    </p:spTree>
    <p:custDataLst>
      <p:tags r:id="rId1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Titre 1"/>
          <p:cNvSpPr>
            <a:spLocks noGrp="1"/>
          </p:cNvSpPr>
          <p:nvPr/>
        </p:nvSpPr>
        <p:spPr>
          <a:xfrm>
            <a:off x="2562860" y="942975"/>
            <a:ext cx="7066915" cy="11474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fr-FR" sz="5800" b="1" dirty="0">
                <a:solidFill>
                  <a:srgbClr val="275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Merci de votre attention</a:t>
            </a:r>
            <a:endParaRPr lang="en-US" altLang="fr-FR" sz="5800" b="1" dirty="0">
              <a:solidFill>
                <a:srgbClr val="275C8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sp>
        <p:nvSpPr>
          <p:cNvPr id="8" name="Espace réservé du numéro de diapositiv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17A047-6DF3-4C8C-9C12-C17027B947F2}" type="slidenum">
              <a:rPr lang="en-US" smtClean="0"/>
            </a:fld>
            <a:endParaRPr lang="en-US"/>
          </a:p>
        </p:txBody>
      </p:sp>
      <p:sp>
        <p:nvSpPr>
          <p:cNvPr id="10" name="Titre 1"/>
          <p:cNvSpPr>
            <a:spLocks noGrp="1"/>
          </p:cNvSpPr>
          <p:nvPr/>
        </p:nvSpPr>
        <p:spPr>
          <a:xfrm>
            <a:off x="839470" y="4988560"/>
            <a:ext cx="10043160" cy="1325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fr-FR" sz="3200" b="1" dirty="0">
                <a:solidFill>
                  <a:srgbClr val="275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Je reste à votre disposition pour r</a:t>
            </a:r>
            <a:r>
              <a:rPr lang="en-US" altLang="en-US" sz="3200" b="1" dirty="0">
                <a:solidFill>
                  <a:srgbClr val="275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é</a:t>
            </a:r>
            <a:r>
              <a:rPr lang="en-US" altLang="fr-FR" sz="3200" b="1" dirty="0">
                <a:solidFill>
                  <a:srgbClr val="275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pondre à vos questions.</a:t>
            </a:r>
            <a:endParaRPr lang="en-US" altLang="fr-FR" sz="3200" b="1" dirty="0">
              <a:solidFill>
                <a:srgbClr val="275C8D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2577</Words>
  <Application>WPS Presentation</Application>
  <PresentationFormat>Grand écran</PresentationFormat>
  <Paragraphs>239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1" baseType="lpstr">
      <vt:lpstr>Arial</vt:lpstr>
      <vt:lpstr>SimSun</vt:lpstr>
      <vt:lpstr>Wingdings</vt:lpstr>
      <vt:lpstr>Wingdings</vt:lpstr>
      <vt:lpstr>Times New Roman</vt:lpstr>
      <vt:lpstr>Century Gothic</vt:lpstr>
      <vt:lpstr>Calibri</vt:lpstr>
      <vt:lpstr>Poppins</vt:lpstr>
      <vt:lpstr>Segoe Print</vt:lpstr>
      <vt:lpstr>Lato</vt:lpstr>
      <vt:lpstr>Inter</vt:lpstr>
      <vt:lpstr>Microsoft YaHei</vt:lpstr>
      <vt:lpstr>Arial Unicode MS</vt:lpstr>
      <vt:lpstr>WPS</vt:lpstr>
      <vt:lpstr>Mise en place d’un systéme de supervision réseau au sein de Mauripost</vt:lpstr>
      <vt:lpstr>Plan de présentation 	</vt:lpstr>
      <vt:lpstr>Contexte – Mauripost</vt:lpstr>
      <vt:lpstr>PowerPoint 演示文稿</vt:lpstr>
      <vt:lpstr>PowerPoint 演示文稿</vt:lpstr>
      <vt:lpstr>      État de l’art &amp; choix de la solution        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Mise en place d’un systéme de supervision réseau au sien de Mauripost</dc:title>
  <dc:creator>Dell</dc:creator>
  <cp:lastModifiedBy>Mamadou abou Ba</cp:lastModifiedBy>
  <cp:revision>41</cp:revision>
  <dcterms:created xsi:type="dcterms:W3CDTF">2026-06-10T12:37:00Z</dcterms:created>
  <dcterms:modified xsi:type="dcterms:W3CDTF">2026-07-07T18:16:04Z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1036-12.1.0.26880</vt:lpwstr>
  </property>
  <property fmtid="{D5CDD505-2E9C-101B-9397-08002B2CF9AE}" pid="3" name="ICV">
    <vt:lpwstr>9FB43423C6FB47D3A349A43FD5A09C4D_11</vt:lpwstr>
  </property>
</Properties>
</file>